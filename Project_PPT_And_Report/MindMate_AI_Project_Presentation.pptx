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7d65d4f-e977-7658-3a90-ec86ac50a338}">
          <p14:sldIdLst>
            <p14:sldId id="256"/>
            <p14:sldId id="257"/>
            <p14:sldId id="258"/>
          </p14:sldIdLst>
        </p14:section>
        <p14:section name="Methodology" id="{f3f83c7e-4af5-c551-d49f-bea13728af25}">
          <p14:sldIdLst>
            <p14:sldId id="259"/>
            <p14:sldId id="260"/>
          </p14:sldIdLst>
        </p14:section>
        <p14:section name="Implementation" id="{286e271b-be9d-1812-012e-b5cf9eb7240b}">
          <p14:sldIdLst>
            <p14:sldId id="261"/>
            <p14:sldId id="262"/>
            <p14:sldId id="263"/>
            <p14:sldId id="264"/>
          </p14:sldIdLst>
        </p14:section>
        <p14:section name="Evaluation" id="{e0e0c760-f75f-5a0e-3dc2-f67caea1c5c0}">
          <p14:sldIdLst>
            <p14:sldId id="265"/>
            <p14:sldId id="266"/>
          </p14:sldIdLst>
        </p14:section>
        <p14:section name="Close" id="{ccc503e1-2b95-e3ce-3ae7-6146b57ec33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Kamalesh V, roll number 240701224, from the Department of Computer Science and Engineering. This is my Web Programming (CS23531) mini-project, MindMate AI, an intelligent student counselling assistant, done under the guidance of Dr. Punitha.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today face stress, anxiety and academic pressure. Many do not ask for help because of stigma or limited access to counselling. Existing digital tools can be complex or raise privacy concerns. MindMate AI is my answer: a simple, accessible web application focused on student wellbeing.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objectives are listed on the left. The proposed system combines a chatbot, mood tracking and wellness activities such as the Journal and Calm Space in a single web platform, so students do not need separate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the Stanford Design Thinking model: Empathize, Define, Ideate, Prototype and Test. I chose it because of its clear structure and because it is iterative. Testing feedback led directly to the re-design stage of my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Apps like Woebot and Wysa offer AI conversation, and platforms like Moodpath offer mood tracking, but many depend on complex AI and cloud services, may need subscriptions, and raise privacy concerns. The table summarises the comparison from my report. MindMate AI aims for simplicity, student focus, and both chatbot support and mood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gives the page structure, CSS handles styling and responsiveness, JavaScript provides logic and interactivity, Firebase handles authentication and cloud data, and LocalStorage stores selected data on the client. These were chosen for simplicity, scalability and wide compatibility.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works through the web interface. JavaScript handles the logic and connects to the chatbot and application features. Data is stored through Firebase and LocalStorage. The workflow is: register or log in, reach the dashboard, select a feature, enter input, the system processes it, and then shows a response or mood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features are registration and login, the AI chatbot, chat history management with rename and delete, mood tracking with visualisation, a personalised dashboard, profile management with dark mode, and the Journal and Calm Space wellness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main screens of the application. Show the live application here during the demo: login or registration, the chatbot, the dashboard with mood tracker, profile and settings, and the Journal and Calm Space. The UI uses a minimal layout, clear navigation, a soft calming colour scheme and consistency, and it is responsive.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test cases from my report: valid login loads the dashboard, the input 'I feel sad' gives a supportive response, and logging 'Happy' stores successfully. I performed functional, usability and performance testing. Feedback led to the re-design: improved interface and navigation, better chatbot interaction and mood visualisation, plus chat management, dark mode and a better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the system provides chatbot interaction and mood tracking, authentication and profile management, and a responsive interface that encourages self-awareness. Limitations: the chatbot may miss complex emotions, it needs internet for AI features, LocalStorage can be cleared, and multi-device sync is limited. Future work: advanced NLP, better personalisation and analytics, reminders, improved cloud synchronisation and professional support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MindMate AI shows how web technologies can support student wellbeing by combining a chatbot, mood tracking and wellness activities, using a user-centred Design Thinking approach. It is a basic support tool and does not replace professional mental health care. Thank you,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754880"/>
            <a:ext cx="5486400" cy="256032"/>
          </a:xfrm>
          <a:prstGeom prst="rect">
            <a:avLst/>
          </a:prstGeom>
          <a:noFill/>
          <a:ln/>
        </p:spPr>
        <p:txBody>
          <a:bodyPr wrap="square" lIns="0" tIns="0" rIns="0" bIns="0" rtlCol="0" anchor="ctr"/>
          <a:lstStyle/>
          <a:p>
            <a:pPr indent="0" marL="0">
              <a:buNone/>
            </a:pPr>
            <a:r>
              <a:rPr lang="en-US" sz="1000" dirty="0">
                <a:solidFill>
                  <a:schemeClr val="accent6"/>
                </a:solidFill>
              </a:rPr>
              <a:t>MindMate AI  |  Kamalesh V  |  240701224</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
          <p:cNvSpPr/>
          <p:nvPr/>
        </p:nvSpPr>
        <p:spPr>
          <a:xfrm>
            <a:off x="6126480" y="914400"/>
            <a:ext cx="2743200" cy="2743200"/>
          </a:xfrm>
          <a:prstGeom prst="ellipse">
            <a:avLst/>
          </a:prstGeom>
          <a:solidFill>
            <a:schemeClr val="tx2"/>
          </a:solidFill>
          <a:ln w="19050">
            <a:solidFill>
              <a:schemeClr val="accent3"/>
            </a:solidFill>
            <a:prstDash val="solid"/>
          </a:ln>
        </p:spPr>
      </p:sp>
      <p:sp>
        <p:nvSpPr>
          <p:cNvPr id="3" name="disc"/>
          <p:cNvSpPr/>
          <p:nvPr/>
        </p:nvSpPr>
        <p:spPr>
          <a:xfrm>
            <a:off x="6400800" y="1188720"/>
            <a:ext cx="2194560" cy="2194560"/>
          </a:xfrm>
          <a:prstGeom prst="ellipse">
            <a:avLst/>
          </a:prstGeom>
          <a:solidFill>
            <a:schemeClr val="accent1"/>
          </a:solidFill>
          <a:ln/>
        </p:spPr>
      </p:sp>
      <p:pic>
        <p:nvPicPr>
          <p:cNvPr id="4" name="Image 0" descr="Brain icon">    </p:cNvPr>
          <p:cNvPicPr>
            <a:picLocks noChangeAspect="1"/>
          </p:cNvPicPr>
          <p:nvPr/>
        </p:nvPicPr>
        <p:blipFill>
          <a:blip r:embed="rId1"/>
          <a:stretch>
            <a:fillRect/>
          </a:stretch>
        </p:blipFill>
        <p:spPr>
          <a:xfrm>
            <a:off x="6949440" y="1737360"/>
            <a:ext cx="1097280" cy="1097280"/>
          </a:xfrm>
          <a:prstGeom prst="rect">
            <a:avLst/>
          </a:prstGeom>
        </p:spPr>
      </p:pic>
      <p:sp>
        <p:nvSpPr>
          <p:cNvPr id="5" name="Text 2"/>
          <p:cNvSpPr txBox="1"/>
          <p:nvPr/>
        </p:nvSpPr>
        <p:spPr>
          <a:xfrm>
            <a:off x="457200" y="457200"/>
            <a:ext cx="5486400" cy="274320"/>
          </a:xfrm>
          <a:prstGeom prst="rect">
            <a:avLst/>
          </a:prstGeom>
          <a:noFill/>
          <a:ln/>
        </p:spPr>
        <p:txBody>
          <a:bodyPr wrap="square" lIns="0" tIns="0" rIns="0" bIns="0" rtlCol="0" anchor="t"/>
          <a:lstStyle/>
          <a:p>
            <a:pPr indent="0" marL="0">
              <a:buNone/>
            </a:pPr>
            <a:r>
              <a:rPr lang="en-US" sz="1200" b="1" dirty="0">
                <a:solidFill>
                  <a:schemeClr val="accent3"/>
                </a:solidFill>
              </a:rPr>
              <a:t>WEB PROGRAMMING MINI-PROJECT</a:t>
            </a:r>
            <a:endParaRPr lang="en-US" sz="1200" dirty="0"/>
          </a:p>
        </p:txBody>
      </p:sp>
      <p:sp>
        <p:nvSpPr>
          <p:cNvPr id="6" name="Text 3"/>
          <p:cNvSpPr txBox="1"/>
          <p:nvPr/>
        </p:nvSpPr>
        <p:spPr>
          <a:xfrm>
            <a:off x="457200" y="777240"/>
            <a:ext cx="5577840" cy="1371600"/>
          </a:xfrm>
          <a:prstGeom prst="rect">
            <a:avLst/>
          </a:prstGeom>
          <a:noFill/>
          <a:ln/>
        </p:spPr>
        <p:txBody>
          <a:bodyPr wrap="square" lIns="0" tIns="0" rIns="0" bIns="0" rtlCol="0" anchor="t"/>
          <a:lstStyle/>
          <a:p>
            <a:pPr indent="0" marL="0">
              <a:buNone/>
            </a:pPr>
            <a:r>
              <a:rPr lang="en-US" sz="3200" b="1" dirty="0">
                <a:solidFill>
                  <a:schemeClr val="bg1"/>
                </a:solidFill>
              </a:rPr>
              <a:t>MindMate AI – An Intelligent Student Counselling Assistant</a:t>
            </a:r>
            <a:endParaRPr lang="en-US" sz="3200" dirty="0"/>
          </a:p>
        </p:txBody>
      </p:sp>
      <p:sp>
        <p:nvSpPr>
          <p:cNvPr id="7" name="Text 4"/>
          <p:cNvSpPr txBox="1"/>
          <p:nvPr/>
        </p:nvSpPr>
        <p:spPr>
          <a:xfrm>
            <a:off x="457200" y="2514600"/>
            <a:ext cx="2834640" cy="228600"/>
          </a:xfrm>
          <a:prstGeom prst="rect">
            <a:avLst/>
          </a:prstGeom>
          <a:noFill/>
          <a:ln/>
        </p:spPr>
        <p:txBody>
          <a:bodyPr wrap="square" lIns="0" tIns="0" rIns="0" bIns="0" rtlCol="0" anchor="t"/>
          <a:lstStyle/>
          <a:p>
            <a:pPr indent="0" marL="0">
              <a:buNone/>
            </a:pPr>
            <a:r>
              <a:rPr lang="en-US" sz="1100" b="1" dirty="0">
                <a:solidFill>
                  <a:schemeClr val="accent3"/>
                </a:solidFill>
              </a:rPr>
              <a:t>STUDENT NAME</a:t>
            </a:r>
            <a:endParaRPr lang="en-US" sz="1100" dirty="0"/>
          </a:p>
        </p:txBody>
      </p:sp>
      <p:sp>
        <p:nvSpPr>
          <p:cNvPr id="8" name="Text 5"/>
          <p:cNvSpPr txBox="1"/>
          <p:nvPr/>
        </p:nvSpPr>
        <p:spPr>
          <a:xfrm>
            <a:off x="457200" y="2743200"/>
            <a:ext cx="2834640" cy="320040"/>
          </a:xfrm>
          <a:prstGeom prst="rect">
            <a:avLst/>
          </a:prstGeom>
          <a:noFill/>
          <a:ln/>
        </p:spPr>
        <p:txBody>
          <a:bodyPr wrap="square" lIns="0" tIns="0" rIns="0" bIns="0" rtlCol="0" anchor="t"/>
          <a:lstStyle/>
          <a:p>
            <a:pPr indent="0" marL="0">
              <a:buNone/>
            </a:pPr>
            <a:r>
              <a:rPr lang="en-US" sz="1800" b="1" dirty="0">
                <a:solidFill>
                  <a:schemeClr val="bg1"/>
                </a:solidFill>
              </a:rPr>
              <a:t>Kamalesh V</a:t>
            </a:r>
            <a:endParaRPr lang="en-US" sz="1800" dirty="0"/>
          </a:p>
        </p:txBody>
      </p:sp>
      <p:sp>
        <p:nvSpPr>
          <p:cNvPr id="9" name="Text 6"/>
          <p:cNvSpPr txBox="1"/>
          <p:nvPr/>
        </p:nvSpPr>
        <p:spPr>
          <a:xfrm>
            <a:off x="3474720" y="2514600"/>
            <a:ext cx="2834640" cy="228600"/>
          </a:xfrm>
          <a:prstGeom prst="rect">
            <a:avLst/>
          </a:prstGeom>
          <a:noFill/>
          <a:ln/>
        </p:spPr>
        <p:txBody>
          <a:bodyPr wrap="square" lIns="0" tIns="0" rIns="0" bIns="0" rtlCol="0" anchor="t"/>
          <a:lstStyle/>
          <a:p>
            <a:pPr indent="0" marL="0">
              <a:buNone/>
            </a:pPr>
            <a:r>
              <a:rPr lang="en-US" sz="1100" b="1" dirty="0">
                <a:solidFill>
                  <a:schemeClr val="accent3"/>
                </a:solidFill>
              </a:rPr>
              <a:t>ROLL NUMBER</a:t>
            </a:r>
            <a:endParaRPr lang="en-US" sz="1100" dirty="0"/>
          </a:p>
        </p:txBody>
      </p:sp>
      <p:sp>
        <p:nvSpPr>
          <p:cNvPr id="10" name="Text 7"/>
          <p:cNvSpPr txBox="1"/>
          <p:nvPr/>
        </p:nvSpPr>
        <p:spPr>
          <a:xfrm>
            <a:off x="3474720" y="2743200"/>
            <a:ext cx="2834640" cy="320040"/>
          </a:xfrm>
          <a:prstGeom prst="rect">
            <a:avLst/>
          </a:prstGeom>
          <a:noFill/>
          <a:ln/>
        </p:spPr>
        <p:txBody>
          <a:bodyPr wrap="square" lIns="0" tIns="0" rIns="0" bIns="0" rtlCol="0" anchor="t"/>
          <a:lstStyle/>
          <a:p>
            <a:pPr indent="0" marL="0">
              <a:buNone/>
            </a:pPr>
            <a:r>
              <a:rPr lang="en-US" sz="1800" b="1" dirty="0">
                <a:solidFill>
                  <a:schemeClr val="bg1"/>
                </a:solidFill>
              </a:rPr>
              <a:t>240701224</a:t>
            </a:r>
            <a:endParaRPr lang="en-US" sz="1800" dirty="0"/>
          </a:p>
        </p:txBody>
      </p:sp>
      <p:sp>
        <p:nvSpPr>
          <p:cNvPr id="11" name="Text 8"/>
          <p:cNvSpPr txBox="1"/>
          <p:nvPr/>
        </p:nvSpPr>
        <p:spPr>
          <a:xfrm>
            <a:off x="457200" y="3246120"/>
            <a:ext cx="2834640" cy="228600"/>
          </a:xfrm>
          <a:prstGeom prst="rect">
            <a:avLst/>
          </a:prstGeom>
          <a:noFill/>
          <a:ln/>
        </p:spPr>
        <p:txBody>
          <a:bodyPr wrap="square" lIns="0" tIns="0" rIns="0" bIns="0" rtlCol="0" anchor="t"/>
          <a:lstStyle/>
          <a:p>
            <a:pPr indent="0" marL="0">
              <a:buNone/>
            </a:pPr>
            <a:r>
              <a:rPr lang="en-US" sz="1100" b="1" dirty="0">
                <a:solidFill>
                  <a:schemeClr val="accent3"/>
                </a:solidFill>
              </a:rPr>
              <a:t>SUBJECT</a:t>
            </a:r>
            <a:endParaRPr lang="en-US" sz="1100" dirty="0"/>
          </a:p>
        </p:txBody>
      </p:sp>
      <p:sp>
        <p:nvSpPr>
          <p:cNvPr id="12" name="Text 9"/>
          <p:cNvSpPr txBox="1"/>
          <p:nvPr/>
        </p:nvSpPr>
        <p:spPr>
          <a:xfrm>
            <a:off x="457200" y="3474720"/>
            <a:ext cx="2834640" cy="320040"/>
          </a:xfrm>
          <a:prstGeom prst="rect">
            <a:avLst/>
          </a:prstGeom>
          <a:noFill/>
          <a:ln/>
        </p:spPr>
        <p:txBody>
          <a:bodyPr wrap="square" lIns="0" tIns="0" rIns="0" bIns="0" rtlCol="0" anchor="t"/>
          <a:lstStyle/>
          <a:p>
            <a:pPr indent="0" marL="0">
              <a:buNone/>
            </a:pPr>
            <a:r>
              <a:rPr lang="en-US" sz="1800" b="1" dirty="0">
                <a:solidFill>
                  <a:schemeClr val="bg1"/>
                </a:solidFill>
              </a:rPr>
              <a:t>Web Programming (CS23531)</a:t>
            </a:r>
            <a:endParaRPr lang="en-US" sz="1800" dirty="0"/>
          </a:p>
        </p:txBody>
      </p:sp>
      <p:sp>
        <p:nvSpPr>
          <p:cNvPr id="13" name="Text 10"/>
          <p:cNvSpPr txBox="1"/>
          <p:nvPr/>
        </p:nvSpPr>
        <p:spPr>
          <a:xfrm>
            <a:off x="3474720" y="3246120"/>
            <a:ext cx="2834640" cy="228600"/>
          </a:xfrm>
          <a:prstGeom prst="rect">
            <a:avLst/>
          </a:prstGeom>
          <a:noFill/>
          <a:ln/>
        </p:spPr>
        <p:txBody>
          <a:bodyPr wrap="square" lIns="0" tIns="0" rIns="0" bIns="0" rtlCol="0" anchor="t"/>
          <a:lstStyle/>
          <a:p>
            <a:pPr indent="0" marL="0">
              <a:buNone/>
            </a:pPr>
            <a:r>
              <a:rPr lang="en-US" sz="1100" b="1" dirty="0">
                <a:solidFill>
                  <a:schemeClr val="accent3"/>
                </a:solidFill>
              </a:rPr>
              <a:t>GUIDED BY</a:t>
            </a:r>
            <a:endParaRPr lang="en-US" sz="1100" dirty="0"/>
          </a:p>
        </p:txBody>
      </p:sp>
      <p:sp>
        <p:nvSpPr>
          <p:cNvPr id="14" name="Text 11"/>
          <p:cNvSpPr txBox="1"/>
          <p:nvPr/>
        </p:nvSpPr>
        <p:spPr>
          <a:xfrm>
            <a:off x="3474720" y="3474720"/>
            <a:ext cx="2834640" cy="320040"/>
          </a:xfrm>
          <a:prstGeom prst="rect">
            <a:avLst/>
          </a:prstGeom>
          <a:noFill/>
          <a:ln/>
        </p:spPr>
        <p:txBody>
          <a:bodyPr wrap="square" lIns="0" tIns="0" rIns="0" bIns="0" rtlCol="0" anchor="t"/>
          <a:lstStyle/>
          <a:p>
            <a:pPr indent="0" marL="0">
              <a:buNone/>
            </a:pPr>
            <a:r>
              <a:rPr lang="en-US" sz="1800" b="1" dirty="0">
                <a:solidFill>
                  <a:schemeClr val="bg1"/>
                </a:solidFill>
              </a:rPr>
              <a:t>Dr. Punitha</a:t>
            </a:r>
            <a:endParaRPr lang="en-US" sz="1800" dirty="0"/>
          </a:p>
        </p:txBody>
      </p:sp>
      <p:sp>
        <p:nvSpPr>
          <p:cNvPr id="15" name="Text 12"/>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500" b="1" dirty="0">
                <a:solidFill>
                  <a:schemeClr val="bg1"/>
                </a:solidFill>
              </a:rPr>
              <a:t>DEPARTMENT OF COMPUTER SCIENCE AND ENGINEERING</a:t>
            </a:r>
            <a:endParaRPr lang="en-US" sz="1500" dirty="0"/>
          </a:p>
        </p:txBody>
      </p:sp>
      <p:sp>
        <p:nvSpPr>
          <p:cNvPr id="16" name="Text 13"/>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400" dirty="0">
                <a:solidFill>
                  <a:schemeClr val="accent3"/>
                </a:solidFill>
              </a:rPr>
              <a:t>Rajalakshmi Engineering College  |  Academic Year: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Introduction and Problem Statement</a:t>
            </a:r>
            <a:endParaRPr lang="en-US" sz="3200" dirty="0"/>
          </a:p>
        </p:txBody>
      </p:sp>
      <p:sp>
        <p:nvSpPr>
          <p:cNvPr id="3" name="problem card"/>
          <p:cNvSpPr/>
          <p:nvPr/>
        </p:nvSpPr>
        <p:spPr>
          <a:xfrm>
            <a:off x="457200" y="1188720"/>
            <a:ext cx="5120640" cy="868680"/>
          </a:xfrm>
          <a:prstGeom prst="roundRect">
            <a:avLst>
              <a:gd name="adj" fmla="val 12632"/>
            </a:avLst>
          </a:prstGeom>
          <a:solidFill>
            <a:schemeClr val="bg2"/>
          </a:solidFill>
          <a:ln/>
        </p:spPr>
      </p:sp>
      <p:sp>
        <p:nvSpPr>
          <p:cNvPr id="4" name="Stress and pressure circle"/>
          <p:cNvSpPr/>
          <p:nvPr/>
        </p:nvSpPr>
        <p:spPr>
          <a:xfrm>
            <a:off x="621792" y="1371600"/>
            <a:ext cx="493776" cy="493776"/>
          </a:xfrm>
          <a:prstGeom prst="ellipse">
            <a:avLst/>
          </a:prstGeom>
          <a:solidFill>
            <a:schemeClr val="accent1"/>
          </a:solidFill>
          <a:ln/>
        </p:spPr>
      </p:sp>
      <p:pic>
        <p:nvPicPr>
          <p:cNvPr id="5" name="Image 0" descr="Stress and pressure">    </p:cNvPr>
          <p:cNvPicPr>
            <a:picLocks noChangeAspect="1"/>
          </p:cNvPicPr>
          <p:nvPr/>
        </p:nvPicPr>
        <p:blipFill>
          <a:blip r:embed="rId1"/>
          <a:stretch>
            <a:fillRect/>
          </a:stretch>
        </p:blipFill>
        <p:spPr>
          <a:xfrm>
            <a:off x="745236" y="1495044"/>
            <a:ext cx="246888" cy="246888"/>
          </a:xfrm>
          <a:prstGeom prst="rect">
            <a:avLst/>
          </a:prstGeom>
        </p:spPr>
      </p:pic>
      <p:sp>
        <p:nvSpPr>
          <p:cNvPr id="6" name="Text 3"/>
          <p:cNvSpPr txBox="1"/>
          <p:nvPr/>
        </p:nvSpPr>
        <p:spPr>
          <a:xfrm>
            <a:off x="1280160" y="1280160"/>
            <a:ext cx="4206240" cy="274320"/>
          </a:xfrm>
          <a:prstGeom prst="rect">
            <a:avLst/>
          </a:prstGeom>
          <a:noFill/>
          <a:ln/>
        </p:spPr>
        <p:txBody>
          <a:bodyPr wrap="square" lIns="0" tIns="0" rIns="0" bIns="0" rtlCol="0" anchor="t"/>
          <a:lstStyle/>
          <a:p>
            <a:pPr indent="0" marL="0">
              <a:buNone/>
            </a:pPr>
            <a:r>
              <a:rPr lang="en-US" sz="1600" b="1" dirty="0">
                <a:solidFill>
                  <a:schemeClr val="tx2"/>
                </a:solidFill>
              </a:rPr>
              <a:t>Stress and pressure</a:t>
            </a:r>
            <a:endParaRPr lang="en-US" sz="1600" dirty="0"/>
          </a:p>
        </p:txBody>
      </p:sp>
      <p:sp>
        <p:nvSpPr>
          <p:cNvPr id="7" name="Text 4"/>
          <p:cNvSpPr txBox="1"/>
          <p:nvPr/>
        </p:nvSpPr>
        <p:spPr>
          <a:xfrm>
            <a:off x="1280160" y="1572768"/>
            <a:ext cx="4206240" cy="457200"/>
          </a:xfrm>
          <a:prstGeom prst="rect">
            <a:avLst/>
          </a:prstGeom>
          <a:noFill/>
          <a:ln/>
        </p:spPr>
        <p:txBody>
          <a:bodyPr wrap="square" lIns="0" tIns="0" rIns="0" bIns="0" rtlCol="0" anchor="t"/>
          <a:lstStyle/>
          <a:p>
            <a:pPr indent="0" marL="0">
              <a:buNone/>
            </a:pPr>
            <a:r>
              <a:rPr lang="en-US" sz="1400" dirty="0">
                <a:solidFill>
                  <a:schemeClr val="tx1"/>
                </a:solidFill>
              </a:rPr>
              <a:t>Students experience stress, anxiety and academic pressure.</a:t>
            </a:r>
            <a:endParaRPr lang="en-US" sz="1400" dirty="0"/>
          </a:p>
        </p:txBody>
      </p:sp>
      <p:sp>
        <p:nvSpPr>
          <p:cNvPr id="8" name="problem card"/>
          <p:cNvSpPr/>
          <p:nvPr/>
        </p:nvSpPr>
        <p:spPr>
          <a:xfrm>
            <a:off x="457200" y="2148840"/>
            <a:ext cx="5120640" cy="868680"/>
          </a:xfrm>
          <a:prstGeom prst="roundRect">
            <a:avLst>
              <a:gd name="adj" fmla="val 12632"/>
            </a:avLst>
          </a:prstGeom>
          <a:solidFill>
            <a:schemeClr val="bg2"/>
          </a:solidFill>
          <a:ln/>
        </p:spPr>
      </p:sp>
      <p:sp>
        <p:nvSpPr>
          <p:cNvPr id="9" name="Hesitation to seek help circle"/>
          <p:cNvSpPr/>
          <p:nvPr/>
        </p:nvSpPr>
        <p:spPr>
          <a:xfrm>
            <a:off x="621792" y="2331720"/>
            <a:ext cx="493776" cy="493776"/>
          </a:xfrm>
          <a:prstGeom prst="ellipse">
            <a:avLst/>
          </a:prstGeom>
          <a:solidFill>
            <a:schemeClr val="accent1"/>
          </a:solidFill>
          <a:ln/>
        </p:spPr>
      </p:sp>
      <p:pic>
        <p:nvPicPr>
          <p:cNvPr id="10" name="Image 1" descr="Hesitation to seek help">    </p:cNvPr>
          <p:cNvPicPr>
            <a:picLocks noChangeAspect="1"/>
          </p:cNvPicPr>
          <p:nvPr/>
        </p:nvPicPr>
        <p:blipFill>
          <a:blip r:embed="rId2"/>
          <a:stretch>
            <a:fillRect/>
          </a:stretch>
        </p:blipFill>
        <p:spPr>
          <a:xfrm>
            <a:off x="745236" y="2455164"/>
            <a:ext cx="246888" cy="246888"/>
          </a:xfrm>
          <a:prstGeom prst="rect">
            <a:avLst/>
          </a:prstGeom>
        </p:spPr>
      </p:pic>
      <p:sp>
        <p:nvSpPr>
          <p:cNvPr id="11" name="Text 7"/>
          <p:cNvSpPr txBox="1"/>
          <p:nvPr/>
        </p:nvSpPr>
        <p:spPr>
          <a:xfrm>
            <a:off x="1280160" y="2240280"/>
            <a:ext cx="4206240" cy="274320"/>
          </a:xfrm>
          <a:prstGeom prst="rect">
            <a:avLst/>
          </a:prstGeom>
          <a:noFill/>
          <a:ln/>
        </p:spPr>
        <p:txBody>
          <a:bodyPr wrap="square" lIns="0" tIns="0" rIns="0" bIns="0" rtlCol="0" anchor="t"/>
          <a:lstStyle/>
          <a:p>
            <a:pPr indent="0" marL="0">
              <a:buNone/>
            </a:pPr>
            <a:r>
              <a:rPr lang="en-US" sz="1600" b="1" dirty="0">
                <a:solidFill>
                  <a:schemeClr val="tx2"/>
                </a:solidFill>
              </a:rPr>
              <a:t>Hesitation to seek help</a:t>
            </a:r>
            <a:endParaRPr lang="en-US" sz="1600" dirty="0"/>
          </a:p>
        </p:txBody>
      </p:sp>
      <p:sp>
        <p:nvSpPr>
          <p:cNvPr id="12" name="Text 8"/>
          <p:cNvSpPr txBox="1"/>
          <p:nvPr/>
        </p:nvSpPr>
        <p:spPr>
          <a:xfrm>
            <a:off x="1280160" y="2532888"/>
            <a:ext cx="4206240" cy="457200"/>
          </a:xfrm>
          <a:prstGeom prst="rect">
            <a:avLst/>
          </a:prstGeom>
          <a:noFill/>
          <a:ln/>
        </p:spPr>
        <p:txBody>
          <a:bodyPr wrap="square" lIns="0" tIns="0" rIns="0" bIns="0" rtlCol="0" anchor="t"/>
          <a:lstStyle/>
          <a:p>
            <a:pPr indent="0" marL="0">
              <a:buNone/>
            </a:pPr>
            <a:r>
              <a:rPr lang="en-US" sz="1400" dirty="0">
                <a:solidFill>
                  <a:schemeClr val="tx1"/>
                </a:solidFill>
              </a:rPr>
              <a:t>Stigma and accessibility issues stop many from asking for support.</a:t>
            </a:r>
            <a:endParaRPr lang="en-US" sz="1400" dirty="0"/>
          </a:p>
        </p:txBody>
      </p:sp>
      <p:sp>
        <p:nvSpPr>
          <p:cNvPr id="13" name="problem card"/>
          <p:cNvSpPr/>
          <p:nvPr/>
        </p:nvSpPr>
        <p:spPr>
          <a:xfrm>
            <a:off x="457200" y="3108960"/>
            <a:ext cx="5120640" cy="868680"/>
          </a:xfrm>
          <a:prstGeom prst="roundRect">
            <a:avLst>
              <a:gd name="adj" fmla="val 12632"/>
            </a:avLst>
          </a:prstGeom>
          <a:solidFill>
            <a:schemeClr val="bg2"/>
          </a:solidFill>
          <a:ln/>
        </p:spPr>
      </p:sp>
      <p:sp>
        <p:nvSpPr>
          <p:cNvPr id="14" name="Complex, privacy-risky tools circle"/>
          <p:cNvSpPr/>
          <p:nvPr/>
        </p:nvSpPr>
        <p:spPr>
          <a:xfrm>
            <a:off x="621792" y="3291840"/>
            <a:ext cx="493776" cy="493776"/>
          </a:xfrm>
          <a:prstGeom prst="ellipse">
            <a:avLst/>
          </a:prstGeom>
          <a:solidFill>
            <a:schemeClr val="accent1"/>
          </a:solidFill>
          <a:ln/>
        </p:spPr>
      </p:sp>
      <p:pic>
        <p:nvPicPr>
          <p:cNvPr id="15" name="Image 2" descr="Complex, privacy-risky tools">    </p:cNvPr>
          <p:cNvPicPr>
            <a:picLocks noChangeAspect="1"/>
          </p:cNvPicPr>
          <p:nvPr/>
        </p:nvPicPr>
        <p:blipFill>
          <a:blip r:embed="rId3"/>
          <a:stretch>
            <a:fillRect/>
          </a:stretch>
        </p:blipFill>
        <p:spPr>
          <a:xfrm>
            <a:off x="745236" y="3415284"/>
            <a:ext cx="246888" cy="246888"/>
          </a:xfrm>
          <a:prstGeom prst="rect">
            <a:avLst/>
          </a:prstGeom>
        </p:spPr>
      </p:pic>
      <p:sp>
        <p:nvSpPr>
          <p:cNvPr id="16" name="Text 11"/>
          <p:cNvSpPr txBox="1"/>
          <p:nvPr/>
        </p:nvSpPr>
        <p:spPr>
          <a:xfrm>
            <a:off x="1280160" y="3200400"/>
            <a:ext cx="4206240" cy="274320"/>
          </a:xfrm>
          <a:prstGeom prst="rect">
            <a:avLst/>
          </a:prstGeom>
          <a:noFill/>
          <a:ln/>
        </p:spPr>
        <p:txBody>
          <a:bodyPr wrap="square" lIns="0" tIns="0" rIns="0" bIns="0" rtlCol="0" anchor="t"/>
          <a:lstStyle/>
          <a:p>
            <a:pPr indent="0" marL="0">
              <a:buNone/>
            </a:pPr>
            <a:r>
              <a:rPr lang="en-US" sz="1600" b="1" dirty="0">
                <a:solidFill>
                  <a:schemeClr val="tx2"/>
                </a:solidFill>
              </a:rPr>
              <a:t>Complex, privacy-risky tools</a:t>
            </a:r>
            <a:endParaRPr lang="en-US" sz="1600" dirty="0"/>
          </a:p>
        </p:txBody>
      </p:sp>
      <p:sp>
        <p:nvSpPr>
          <p:cNvPr id="17" name="Text 12"/>
          <p:cNvSpPr txBox="1"/>
          <p:nvPr/>
        </p:nvSpPr>
        <p:spPr>
          <a:xfrm>
            <a:off x="1280160" y="3493008"/>
            <a:ext cx="4206240" cy="457200"/>
          </a:xfrm>
          <a:prstGeom prst="rect">
            <a:avLst/>
          </a:prstGeom>
          <a:noFill/>
          <a:ln/>
        </p:spPr>
        <p:txBody>
          <a:bodyPr wrap="square" lIns="0" tIns="0" rIns="0" bIns="0" rtlCol="0" anchor="t"/>
          <a:lstStyle/>
          <a:p>
            <a:pPr indent="0" marL="0">
              <a:buNone/>
            </a:pPr>
            <a:r>
              <a:rPr lang="en-US" sz="1400" dirty="0">
                <a:solidFill>
                  <a:schemeClr val="tx1"/>
                </a:solidFill>
              </a:rPr>
              <a:t>Existing solutions can be complex or raise privacy concerns.</a:t>
            </a:r>
            <a:endParaRPr lang="en-US" sz="1400" dirty="0"/>
          </a:p>
        </p:txBody>
      </p:sp>
      <p:sp>
        <p:nvSpPr>
          <p:cNvPr id="18" name="solution bar"/>
          <p:cNvSpPr/>
          <p:nvPr/>
        </p:nvSpPr>
        <p:spPr>
          <a:xfrm>
            <a:off x="457200" y="4114800"/>
            <a:ext cx="5120640" cy="457200"/>
          </a:xfrm>
          <a:prstGeom prst="roundRect">
            <a:avLst>
              <a:gd name="adj" fmla="val 24000"/>
            </a:avLst>
          </a:prstGeom>
          <a:solidFill>
            <a:schemeClr val="accent1"/>
          </a:solidFill>
          <a:ln/>
        </p:spPr>
      </p:sp>
      <p:sp>
        <p:nvSpPr>
          <p:cNvPr id="19" name="Text 14"/>
          <p:cNvSpPr txBox="1"/>
          <p:nvPr/>
        </p:nvSpPr>
        <p:spPr>
          <a:xfrm>
            <a:off x="685800" y="4114800"/>
            <a:ext cx="4754880" cy="457200"/>
          </a:xfrm>
          <a:prstGeom prst="rect">
            <a:avLst/>
          </a:prstGeom>
          <a:noFill/>
          <a:ln/>
        </p:spPr>
        <p:txBody>
          <a:bodyPr wrap="square" lIns="0" tIns="0" rIns="0" bIns="0" rtlCol="0" anchor="ctr"/>
          <a:lstStyle/>
          <a:p>
            <a:pPr indent="0" marL="0">
              <a:buNone/>
            </a:pPr>
            <a:r>
              <a:rPr lang="en-US" sz="1500" b="1" dirty="0">
                <a:solidFill>
                  <a:schemeClr val="bg1"/>
                </a:solidFill>
              </a:rPr>
              <a:t>Need: a simple, accessible, private digital support</a:t>
            </a:r>
            <a:endParaRPr lang="en-US" sz="1500" dirty="0"/>
          </a:p>
        </p:txBody>
      </p:sp>
      <p:sp>
        <p:nvSpPr>
          <p:cNvPr id="20" name="answer panel"/>
          <p:cNvSpPr/>
          <p:nvPr/>
        </p:nvSpPr>
        <p:spPr>
          <a:xfrm>
            <a:off x="5852160" y="1188720"/>
            <a:ext cx="2834640" cy="3383280"/>
          </a:xfrm>
          <a:prstGeom prst="roundRect">
            <a:avLst>
              <a:gd name="adj" fmla="val 3871"/>
            </a:avLst>
          </a:prstGeom>
          <a:solidFill>
            <a:schemeClr val="tx2"/>
          </a:solidFill>
          <a:ln/>
        </p:spPr>
      </p:sp>
      <p:sp>
        <p:nvSpPr>
          <p:cNvPr id="21" name="MindMate AI circle"/>
          <p:cNvSpPr/>
          <p:nvPr/>
        </p:nvSpPr>
        <p:spPr>
          <a:xfrm>
            <a:off x="6126480" y="1417320"/>
            <a:ext cx="731520" cy="731520"/>
          </a:xfrm>
          <a:prstGeom prst="ellipse">
            <a:avLst/>
          </a:prstGeom>
          <a:solidFill>
            <a:schemeClr val="accent1"/>
          </a:solidFill>
          <a:ln/>
        </p:spPr>
      </p:sp>
      <p:pic>
        <p:nvPicPr>
          <p:cNvPr id="22" name="Image 3" descr="MindMate AI">    </p:cNvPr>
          <p:cNvPicPr>
            <a:picLocks noChangeAspect="1"/>
          </p:cNvPicPr>
          <p:nvPr/>
        </p:nvPicPr>
        <p:blipFill>
          <a:blip r:embed="rId4"/>
          <a:stretch>
            <a:fillRect/>
          </a:stretch>
        </p:blipFill>
        <p:spPr>
          <a:xfrm>
            <a:off x="6309360" y="1600200"/>
            <a:ext cx="365760" cy="365760"/>
          </a:xfrm>
          <a:prstGeom prst="rect">
            <a:avLst/>
          </a:prstGeom>
        </p:spPr>
      </p:pic>
      <p:sp>
        <p:nvSpPr>
          <p:cNvPr id="23" name="Text 17"/>
          <p:cNvSpPr txBox="1"/>
          <p:nvPr/>
        </p:nvSpPr>
        <p:spPr>
          <a:xfrm>
            <a:off x="6126480" y="2331720"/>
            <a:ext cx="2377440" cy="411480"/>
          </a:xfrm>
          <a:prstGeom prst="rect">
            <a:avLst/>
          </a:prstGeom>
          <a:noFill/>
          <a:ln/>
        </p:spPr>
        <p:txBody>
          <a:bodyPr wrap="square" lIns="0" tIns="0" rIns="0" bIns="0" rtlCol="0" anchor="t"/>
          <a:lstStyle/>
          <a:p>
            <a:pPr indent="0" marL="0">
              <a:buNone/>
            </a:pPr>
            <a:r>
              <a:rPr lang="en-US" sz="2400" b="1" dirty="0">
                <a:solidFill>
                  <a:schemeClr val="bg1"/>
                </a:solidFill>
              </a:rPr>
              <a:t>MindMate AI</a:t>
            </a:r>
            <a:endParaRPr lang="en-US" sz="2400" dirty="0"/>
          </a:p>
        </p:txBody>
      </p:sp>
      <p:sp>
        <p:nvSpPr>
          <p:cNvPr id="24" name="Text 18"/>
          <p:cNvSpPr txBox="1"/>
          <p:nvPr/>
        </p:nvSpPr>
        <p:spPr>
          <a:xfrm>
            <a:off x="6126480" y="2834640"/>
            <a:ext cx="2377440" cy="1097280"/>
          </a:xfrm>
          <a:prstGeom prst="rect">
            <a:avLst/>
          </a:prstGeom>
          <a:noFill/>
          <a:ln/>
        </p:spPr>
        <p:txBody>
          <a:bodyPr wrap="square" lIns="0" tIns="0" rIns="0" bIns="0" rtlCol="0" anchor="t"/>
          <a:lstStyle/>
          <a:p>
            <a:pPr indent="0" marL="0">
              <a:buNone/>
            </a:pPr>
            <a:r>
              <a:rPr lang="en-US" sz="1500" dirty="0">
                <a:solidFill>
                  <a:schemeClr val="accent3"/>
                </a:solidFill>
              </a:rPr>
              <a:t>A simple, accessible, web-based student wellbeing assistant.</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Objectives and Proposed System</a:t>
            </a:r>
            <a:endParaRPr lang="en-US" sz="3200" dirty="0"/>
          </a:p>
        </p:txBody>
      </p:sp>
      <p:sp>
        <p:nvSpPr>
          <p:cNvPr id="3" name="Text 1"/>
          <p:cNvSpPr txBox="1"/>
          <p:nvPr/>
        </p:nvSpPr>
        <p:spPr>
          <a:xfrm>
            <a:off x="457200" y="1143000"/>
            <a:ext cx="3657600" cy="228600"/>
          </a:xfrm>
          <a:prstGeom prst="rect">
            <a:avLst/>
          </a:prstGeom>
          <a:noFill/>
          <a:ln/>
        </p:spPr>
        <p:txBody>
          <a:bodyPr wrap="square" lIns="0" tIns="0" rIns="0" bIns="0" rtlCol="0" anchor="t"/>
          <a:lstStyle/>
          <a:p>
            <a:pPr indent="0" marL="0">
              <a:buNone/>
            </a:pPr>
            <a:r>
              <a:rPr lang="en-US" sz="1200" b="1" dirty="0">
                <a:solidFill>
                  <a:schemeClr val="accent1"/>
                </a:solidFill>
              </a:rPr>
              <a:t>OBJECTIVES</a:t>
            </a:r>
            <a:endParaRPr lang="en-US" sz="1200" dirty="0"/>
          </a:p>
        </p:txBody>
      </p:sp>
      <p:sp>
        <p:nvSpPr>
          <p:cNvPr id="4" name="number 1"/>
          <p:cNvSpPr/>
          <p:nvPr/>
        </p:nvSpPr>
        <p:spPr>
          <a:xfrm>
            <a:off x="457200" y="1463040"/>
            <a:ext cx="420624" cy="420624"/>
          </a:xfrm>
          <a:prstGeom prst="ellipse">
            <a:avLst/>
          </a:prstGeom>
          <a:solidFill>
            <a:schemeClr val="accent1"/>
          </a:solidFill>
          <a:ln/>
        </p:spPr>
      </p:sp>
      <p:sp>
        <p:nvSpPr>
          <p:cNvPr id="5" name="Text 3"/>
          <p:cNvSpPr txBox="1"/>
          <p:nvPr/>
        </p:nvSpPr>
        <p:spPr>
          <a:xfrm>
            <a:off x="457200" y="146304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051560" y="1463040"/>
            <a:ext cx="4023360" cy="420624"/>
          </a:xfrm>
          <a:prstGeom prst="rect">
            <a:avLst/>
          </a:prstGeom>
          <a:noFill/>
          <a:ln/>
        </p:spPr>
        <p:txBody>
          <a:bodyPr wrap="square" lIns="0" tIns="0" rIns="0" bIns="0" rtlCol="0" anchor="ctr"/>
          <a:lstStyle/>
          <a:p>
            <a:pPr indent="0" marL="0">
              <a:buNone/>
            </a:pPr>
            <a:r>
              <a:rPr lang="en-US" sz="1500" dirty="0">
                <a:solidFill>
                  <a:schemeClr val="tx1"/>
                </a:solidFill>
              </a:rPr>
              <a:t>Basic emotional support through a chatbot</a:t>
            </a:r>
            <a:endParaRPr lang="en-US" sz="1500" dirty="0"/>
          </a:p>
        </p:txBody>
      </p:sp>
      <p:sp>
        <p:nvSpPr>
          <p:cNvPr id="7" name="number 2"/>
          <p:cNvSpPr/>
          <p:nvPr/>
        </p:nvSpPr>
        <p:spPr>
          <a:xfrm>
            <a:off x="457200" y="2066544"/>
            <a:ext cx="420624" cy="420624"/>
          </a:xfrm>
          <a:prstGeom prst="ellipse">
            <a:avLst/>
          </a:prstGeom>
          <a:solidFill>
            <a:schemeClr val="accent1"/>
          </a:solidFill>
          <a:ln/>
        </p:spPr>
      </p:sp>
      <p:sp>
        <p:nvSpPr>
          <p:cNvPr id="8" name="Text 6"/>
          <p:cNvSpPr txBox="1"/>
          <p:nvPr/>
        </p:nvSpPr>
        <p:spPr>
          <a:xfrm>
            <a:off x="457200" y="206654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051560" y="2066544"/>
            <a:ext cx="4023360" cy="420624"/>
          </a:xfrm>
          <a:prstGeom prst="rect">
            <a:avLst/>
          </a:prstGeom>
          <a:noFill/>
          <a:ln/>
        </p:spPr>
        <p:txBody>
          <a:bodyPr wrap="square" lIns="0" tIns="0" rIns="0" bIns="0" rtlCol="0" anchor="ctr"/>
          <a:lstStyle/>
          <a:p>
            <a:pPr indent="0" marL="0">
              <a:buNone/>
            </a:pPr>
            <a:r>
              <a:rPr lang="en-US" sz="1500" dirty="0">
                <a:solidFill>
                  <a:schemeClr val="tx1"/>
                </a:solidFill>
              </a:rPr>
              <a:t>Mood tracking and self-awareness</a:t>
            </a:r>
            <a:endParaRPr lang="en-US" sz="1500" dirty="0"/>
          </a:p>
        </p:txBody>
      </p:sp>
      <p:sp>
        <p:nvSpPr>
          <p:cNvPr id="10" name="number 3"/>
          <p:cNvSpPr/>
          <p:nvPr/>
        </p:nvSpPr>
        <p:spPr>
          <a:xfrm>
            <a:off x="457200" y="2670048"/>
            <a:ext cx="420624" cy="420624"/>
          </a:xfrm>
          <a:prstGeom prst="ellipse">
            <a:avLst/>
          </a:prstGeom>
          <a:solidFill>
            <a:schemeClr val="accent1"/>
          </a:solidFill>
          <a:ln/>
        </p:spPr>
      </p:sp>
      <p:sp>
        <p:nvSpPr>
          <p:cNvPr id="11" name="Text 9"/>
          <p:cNvSpPr txBox="1"/>
          <p:nvPr/>
        </p:nvSpPr>
        <p:spPr>
          <a:xfrm>
            <a:off x="457200" y="267004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 10"/>
          <p:cNvSpPr txBox="1"/>
          <p:nvPr/>
        </p:nvSpPr>
        <p:spPr>
          <a:xfrm>
            <a:off x="1051560" y="2670048"/>
            <a:ext cx="4023360" cy="420624"/>
          </a:xfrm>
          <a:prstGeom prst="rect">
            <a:avLst/>
          </a:prstGeom>
          <a:noFill/>
          <a:ln/>
        </p:spPr>
        <p:txBody>
          <a:bodyPr wrap="square" lIns="0" tIns="0" rIns="0" bIns="0" rtlCol="0" anchor="ctr"/>
          <a:lstStyle/>
          <a:p>
            <a:pPr indent="0" marL="0">
              <a:buNone/>
            </a:pPr>
            <a:r>
              <a:rPr lang="en-US" sz="1500" dirty="0">
                <a:solidFill>
                  <a:schemeClr val="tx1"/>
                </a:solidFill>
              </a:rPr>
              <a:t>A personalised dashboard</a:t>
            </a:r>
            <a:endParaRPr lang="en-US" sz="1500" dirty="0"/>
          </a:p>
        </p:txBody>
      </p:sp>
      <p:sp>
        <p:nvSpPr>
          <p:cNvPr id="13" name="number 4"/>
          <p:cNvSpPr/>
          <p:nvPr/>
        </p:nvSpPr>
        <p:spPr>
          <a:xfrm>
            <a:off x="457200" y="3273552"/>
            <a:ext cx="420624" cy="420624"/>
          </a:xfrm>
          <a:prstGeom prst="ellipse">
            <a:avLst/>
          </a:prstGeom>
          <a:solidFill>
            <a:schemeClr val="accent1"/>
          </a:solidFill>
          <a:ln/>
        </p:spPr>
      </p:sp>
      <p:sp>
        <p:nvSpPr>
          <p:cNvPr id="14" name="Text 12"/>
          <p:cNvSpPr txBox="1"/>
          <p:nvPr/>
        </p:nvSpPr>
        <p:spPr>
          <a:xfrm>
            <a:off x="457200" y="327355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5" name="Text 13"/>
          <p:cNvSpPr txBox="1"/>
          <p:nvPr/>
        </p:nvSpPr>
        <p:spPr>
          <a:xfrm>
            <a:off x="1051560" y="3273552"/>
            <a:ext cx="4023360" cy="420624"/>
          </a:xfrm>
          <a:prstGeom prst="rect">
            <a:avLst/>
          </a:prstGeom>
          <a:noFill/>
          <a:ln/>
        </p:spPr>
        <p:txBody>
          <a:bodyPr wrap="square" lIns="0" tIns="0" rIns="0" bIns="0" rtlCol="0" anchor="ctr"/>
          <a:lstStyle/>
          <a:p>
            <a:pPr indent="0" marL="0">
              <a:buNone/>
            </a:pPr>
            <a:r>
              <a:rPr lang="en-US" sz="1500" dirty="0">
                <a:solidFill>
                  <a:schemeClr val="tx1"/>
                </a:solidFill>
              </a:rPr>
              <a:t>User authentication and profile management</a:t>
            </a:r>
            <a:endParaRPr lang="en-US" sz="1500" dirty="0"/>
          </a:p>
        </p:txBody>
      </p:sp>
      <p:sp>
        <p:nvSpPr>
          <p:cNvPr id="16" name="number 5"/>
          <p:cNvSpPr/>
          <p:nvPr/>
        </p:nvSpPr>
        <p:spPr>
          <a:xfrm>
            <a:off x="457200" y="3877056"/>
            <a:ext cx="420624" cy="420624"/>
          </a:xfrm>
          <a:prstGeom prst="ellipse">
            <a:avLst/>
          </a:prstGeom>
          <a:solidFill>
            <a:schemeClr val="accent1"/>
          </a:solidFill>
          <a:ln/>
        </p:spPr>
      </p:sp>
      <p:sp>
        <p:nvSpPr>
          <p:cNvPr id="17" name="Text 15"/>
          <p:cNvSpPr txBox="1"/>
          <p:nvPr/>
        </p:nvSpPr>
        <p:spPr>
          <a:xfrm>
            <a:off x="457200" y="387705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8" name="Text 16"/>
          <p:cNvSpPr txBox="1"/>
          <p:nvPr/>
        </p:nvSpPr>
        <p:spPr>
          <a:xfrm>
            <a:off x="1051560" y="3877056"/>
            <a:ext cx="4023360" cy="420624"/>
          </a:xfrm>
          <a:prstGeom prst="rect">
            <a:avLst/>
          </a:prstGeom>
          <a:noFill/>
          <a:ln/>
        </p:spPr>
        <p:txBody>
          <a:bodyPr wrap="square" lIns="0" tIns="0" rIns="0" bIns="0" rtlCol="0" anchor="ctr"/>
          <a:lstStyle/>
          <a:p>
            <a:pPr indent="0" marL="0">
              <a:buNone/>
            </a:pPr>
            <a:r>
              <a:rPr lang="en-US" sz="1500" dirty="0">
                <a:solidFill>
                  <a:schemeClr val="tx1"/>
                </a:solidFill>
              </a:rPr>
              <a:t>A responsive, user-friendly web application</a:t>
            </a:r>
            <a:endParaRPr lang="en-US" sz="1500" dirty="0"/>
          </a:p>
        </p:txBody>
      </p:sp>
      <p:sp>
        <p:nvSpPr>
          <p:cNvPr id="19" name="proposed system"/>
          <p:cNvSpPr/>
          <p:nvPr/>
        </p:nvSpPr>
        <p:spPr>
          <a:xfrm>
            <a:off x="5394960" y="1143000"/>
            <a:ext cx="3291840" cy="3337560"/>
          </a:xfrm>
          <a:prstGeom prst="roundRect">
            <a:avLst>
              <a:gd name="adj" fmla="val 3333"/>
            </a:avLst>
          </a:prstGeom>
          <a:solidFill>
            <a:schemeClr val="bg2"/>
          </a:solidFill>
          <a:ln/>
        </p:spPr>
      </p:sp>
      <p:sp>
        <p:nvSpPr>
          <p:cNvPr id="20" name="Text 18"/>
          <p:cNvSpPr txBox="1"/>
          <p:nvPr/>
        </p:nvSpPr>
        <p:spPr>
          <a:xfrm>
            <a:off x="5623560" y="1325880"/>
            <a:ext cx="2834640" cy="228600"/>
          </a:xfrm>
          <a:prstGeom prst="rect">
            <a:avLst/>
          </a:prstGeom>
          <a:noFill/>
          <a:ln/>
        </p:spPr>
        <p:txBody>
          <a:bodyPr wrap="square" lIns="0" tIns="0" rIns="0" bIns="0" rtlCol="0" anchor="t"/>
          <a:lstStyle/>
          <a:p>
            <a:pPr indent="0" marL="0">
              <a:buNone/>
            </a:pPr>
            <a:r>
              <a:rPr lang="en-US" sz="1200" b="1" dirty="0">
                <a:solidFill>
                  <a:schemeClr val="accent1"/>
                </a:solidFill>
              </a:rPr>
              <a:t>PROPOSED SYSTEM</a:t>
            </a:r>
            <a:endParaRPr lang="en-US" sz="1200" dirty="0"/>
          </a:p>
        </p:txBody>
      </p:sp>
      <p:sp>
        <p:nvSpPr>
          <p:cNvPr id="21" name="Text 19"/>
          <p:cNvSpPr txBox="1"/>
          <p:nvPr/>
        </p:nvSpPr>
        <p:spPr>
          <a:xfrm>
            <a:off x="5623560" y="1600200"/>
            <a:ext cx="2834640" cy="274320"/>
          </a:xfrm>
          <a:prstGeom prst="rect">
            <a:avLst/>
          </a:prstGeom>
          <a:noFill/>
          <a:ln/>
        </p:spPr>
        <p:txBody>
          <a:bodyPr wrap="square" lIns="0" tIns="0" rIns="0" bIns="0" rtlCol="0" anchor="t"/>
          <a:lstStyle/>
          <a:p>
            <a:pPr indent="0" marL="0">
              <a:buNone/>
            </a:pPr>
            <a:r>
              <a:rPr lang="en-US" sz="1500" b="1" dirty="0">
                <a:solidFill>
                  <a:schemeClr val="tx2"/>
                </a:solidFill>
              </a:rPr>
              <a:t>One platform that combines:</a:t>
            </a:r>
            <a:endParaRPr lang="en-US" sz="1500" dirty="0"/>
          </a:p>
        </p:txBody>
      </p:sp>
      <p:sp>
        <p:nvSpPr>
          <p:cNvPr id="22" name="Chatbot interaction circle"/>
          <p:cNvSpPr/>
          <p:nvPr/>
        </p:nvSpPr>
        <p:spPr>
          <a:xfrm>
            <a:off x="5623560" y="2011680"/>
            <a:ext cx="548640" cy="548640"/>
          </a:xfrm>
          <a:prstGeom prst="ellipse">
            <a:avLst/>
          </a:prstGeom>
          <a:solidFill>
            <a:schemeClr val="accent1"/>
          </a:solidFill>
          <a:ln/>
        </p:spPr>
      </p:sp>
      <p:pic>
        <p:nvPicPr>
          <p:cNvPr id="23" name="Image 0" descr="Chatbot interaction">    </p:cNvPr>
          <p:cNvPicPr>
            <a:picLocks noChangeAspect="1"/>
          </p:cNvPicPr>
          <p:nvPr/>
        </p:nvPicPr>
        <p:blipFill>
          <a:blip r:embed="rId1"/>
          <a:stretch>
            <a:fillRect/>
          </a:stretch>
        </p:blipFill>
        <p:spPr>
          <a:xfrm>
            <a:off x="5760720" y="2148840"/>
            <a:ext cx="274320" cy="274320"/>
          </a:xfrm>
          <a:prstGeom prst="rect">
            <a:avLst/>
          </a:prstGeom>
        </p:spPr>
      </p:pic>
      <p:sp>
        <p:nvSpPr>
          <p:cNvPr id="24" name="Text 21"/>
          <p:cNvSpPr txBox="1"/>
          <p:nvPr/>
        </p:nvSpPr>
        <p:spPr>
          <a:xfrm>
            <a:off x="6355080" y="2011680"/>
            <a:ext cx="2194560" cy="548640"/>
          </a:xfrm>
          <a:prstGeom prst="rect">
            <a:avLst/>
          </a:prstGeom>
          <a:noFill/>
          <a:ln/>
        </p:spPr>
        <p:txBody>
          <a:bodyPr wrap="square" lIns="0" tIns="0" rIns="0" bIns="0" rtlCol="0" anchor="ctr"/>
          <a:lstStyle/>
          <a:p>
            <a:pPr indent="0" marL="0">
              <a:buNone/>
            </a:pPr>
            <a:r>
              <a:rPr lang="en-US" sz="1600" b="1" dirty="0">
                <a:solidFill>
                  <a:schemeClr val="tx1"/>
                </a:solidFill>
              </a:rPr>
              <a:t>Chatbot interaction</a:t>
            </a:r>
            <a:endParaRPr lang="en-US" sz="1600" dirty="0"/>
          </a:p>
        </p:txBody>
      </p:sp>
      <p:sp>
        <p:nvSpPr>
          <p:cNvPr id="25" name="Mood tracking circle"/>
          <p:cNvSpPr/>
          <p:nvPr/>
        </p:nvSpPr>
        <p:spPr>
          <a:xfrm>
            <a:off x="5623560" y="2670048"/>
            <a:ext cx="548640" cy="548640"/>
          </a:xfrm>
          <a:prstGeom prst="ellipse">
            <a:avLst/>
          </a:prstGeom>
          <a:solidFill>
            <a:schemeClr val="accent1"/>
          </a:solidFill>
          <a:ln/>
        </p:spPr>
      </p:sp>
      <p:pic>
        <p:nvPicPr>
          <p:cNvPr id="26" name="Image 1" descr="Mood tracking">    </p:cNvPr>
          <p:cNvPicPr>
            <a:picLocks noChangeAspect="1"/>
          </p:cNvPicPr>
          <p:nvPr/>
        </p:nvPicPr>
        <p:blipFill>
          <a:blip r:embed="rId2"/>
          <a:stretch>
            <a:fillRect/>
          </a:stretch>
        </p:blipFill>
        <p:spPr>
          <a:xfrm>
            <a:off x="5760720" y="2807208"/>
            <a:ext cx="274320" cy="274320"/>
          </a:xfrm>
          <a:prstGeom prst="rect">
            <a:avLst/>
          </a:prstGeom>
        </p:spPr>
      </p:pic>
      <p:sp>
        <p:nvSpPr>
          <p:cNvPr id="27" name="Text 23"/>
          <p:cNvSpPr txBox="1"/>
          <p:nvPr/>
        </p:nvSpPr>
        <p:spPr>
          <a:xfrm>
            <a:off x="6355080" y="2670048"/>
            <a:ext cx="2194560" cy="548640"/>
          </a:xfrm>
          <a:prstGeom prst="rect">
            <a:avLst/>
          </a:prstGeom>
          <a:noFill/>
          <a:ln/>
        </p:spPr>
        <p:txBody>
          <a:bodyPr wrap="square" lIns="0" tIns="0" rIns="0" bIns="0" rtlCol="0" anchor="ctr"/>
          <a:lstStyle/>
          <a:p>
            <a:pPr indent="0" marL="0">
              <a:buNone/>
            </a:pPr>
            <a:r>
              <a:rPr lang="en-US" sz="1600" b="1" dirty="0">
                <a:solidFill>
                  <a:schemeClr val="tx1"/>
                </a:solidFill>
              </a:rPr>
              <a:t>Mood tracking</a:t>
            </a:r>
            <a:endParaRPr lang="en-US" sz="1600" dirty="0"/>
          </a:p>
        </p:txBody>
      </p:sp>
      <p:sp>
        <p:nvSpPr>
          <p:cNvPr id="28" name="Wellness activities circle"/>
          <p:cNvSpPr/>
          <p:nvPr/>
        </p:nvSpPr>
        <p:spPr>
          <a:xfrm>
            <a:off x="5623560" y="3328416"/>
            <a:ext cx="548640" cy="548640"/>
          </a:xfrm>
          <a:prstGeom prst="ellipse">
            <a:avLst/>
          </a:prstGeom>
          <a:solidFill>
            <a:schemeClr val="accent1"/>
          </a:solidFill>
          <a:ln/>
        </p:spPr>
      </p:sp>
      <p:pic>
        <p:nvPicPr>
          <p:cNvPr id="29" name="Image 2" descr="Wellness activities">    </p:cNvPr>
          <p:cNvPicPr>
            <a:picLocks noChangeAspect="1"/>
          </p:cNvPicPr>
          <p:nvPr/>
        </p:nvPicPr>
        <p:blipFill>
          <a:blip r:embed="rId3"/>
          <a:stretch>
            <a:fillRect/>
          </a:stretch>
        </p:blipFill>
        <p:spPr>
          <a:xfrm>
            <a:off x="5760720" y="3465576"/>
            <a:ext cx="274320" cy="274320"/>
          </a:xfrm>
          <a:prstGeom prst="rect">
            <a:avLst/>
          </a:prstGeom>
        </p:spPr>
      </p:pic>
      <p:sp>
        <p:nvSpPr>
          <p:cNvPr id="30" name="Text 25"/>
          <p:cNvSpPr txBox="1"/>
          <p:nvPr/>
        </p:nvSpPr>
        <p:spPr>
          <a:xfrm>
            <a:off x="6355080" y="3328416"/>
            <a:ext cx="2194560" cy="548640"/>
          </a:xfrm>
          <a:prstGeom prst="rect">
            <a:avLst/>
          </a:prstGeom>
          <a:noFill/>
          <a:ln/>
        </p:spPr>
        <p:txBody>
          <a:bodyPr wrap="square" lIns="0" tIns="0" rIns="0" bIns="0" rtlCol="0" anchor="ctr"/>
          <a:lstStyle/>
          <a:p>
            <a:pPr indent="0" marL="0">
              <a:buNone/>
            </a:pPr>
            <a:r>
              <a:rPr lang="en-US" sz="1600" b="1" dirty="0">
                <a:solidFill>
                  <a:schemeClr val="tx1"/>
                </a:solidFill>
              </a:rPr>
              <a:t>Wellness activities</a:t>
            </a:r>
            <a:endParaRPr lang="en-US" sz="1600" dirty="0"/>
          </a:p>
        </p:txBody>
      </p:sp>
      <p:sp>
        <p:nvSpPr>
          <p:cNvPr id="31" name="Text 26"/>
          <p:cNvSpPr txBox="1"/>
          <p:nvPr/>
        </p:nvSpPr>
        <p:spPr>
          <a:xfrm>
            <a:off x="5623560" y="4023360"/>
            <a:ext cx="2834640" cy="365760"/>
          </a:xfrm>
          <a:prstGeom prst="rect">
            <a:avLst/>
          </a:prstGeom>
          <a:noFill/>
          <a:ln/>
        </p:spPr>
        <p:txBody>
          <a:bodyPr wrap="square" lIns="0" tIns="0" rIns="0" bIns="0" rtlCol="0" anchor="t"/>
          <a:lstStyle/>
          <a:p>
            <a:pPr indent="0" marL="0">
              <a:buNone/>
            </a:pPr>
            <a:r>
              <a:rPr lang="en-US" sz="1200" dirty="0">
                <a:solidFill>
                  <a:schemeClr val="accent6"/>
                </a:solidFill>
              </a:rPr>
              <a:t>Journal and Calm Space support stress relief.</a:t>
            </a:r>
            <a:endParaRPr lang="en-US" sz="12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Design Thinking Methodology</a:t>
            </a:r>
            <a:endParaRPr lang="en-US" sz="3200" dirty="0"/>
          </a:p>
        </p:txBody>
      </p:sp>
      <p:sp>
        <p:nvSpPr>
          <p:cNvPr id="3" name="Text 1"/>
          <p:cNvSpPr txBox="1"/>
          <p:nvPr/>
        </p:nvSpPr>
        <p:spPr>
          <a:xfrm>
            <a:off x="457200" y="1005840"/>
            <a:ext cx="8229600" cy="274320"/>
          </a:xfrm>
          <a:prstGeom prst="rect">
            <a:avLst/>
          </a:prstGeom>
          <a:noFill/>
          <a:ln/>
        </p:spPr>
        <p:txBody>
          <a:bodyPr wrap="square" lIns="0" tIns="0" rIns="0" bIns="0" rtlCol="0" anchor="t"/>
          <a:lstStyle/>
          <a:p>
            <a:pPr indent="0" marL="0">
              <a:buNone/>
            </a:pPr>
            <a:r>
              <a:rPr lang="en-US" sz="1600" dirty="0">
                <a:solidFill>
                  <a:schemeClr val="accent6"/>
                </a:solidFill>
              </a:rPr>
              <a:t>Stanford Design Thinking Model</a:t>
            </a:r>
            <a:endParaRPr lang="en-US" sz="1600" dirty="0"/>
          </a:p>
        </p:txBody>
      </p:sp>
      <p:sp>
        <p:nvSpPr>
          <p:cNvPr id="4" name="timeline"/>
          <p:cNvSpPr/>
          <p:nvPr/>
        </p:nvSpPr>
        <p:spPr>
          <a:xfrm>
            <a:off x="1188720" y="1965960"/>
            <a:ext cx="6766560" cy="0"/>
          </a:xfrm>
          <a:prstGeom prst="line">
            <a:avLst/>
          </a:prstGeom>
          <a:noFill/>
          <a:ln w="38100">
            <a:solidFill>
              <a:schemeClr val="accent3"/>
            </a:solidFill>
            <a:prstDash val="solid"/>
          </a:ln>
        </p:spPr>
      </p:sp>
      <p:sp>
        <p:nvSpPr>
          <p:cNvPr id="5" name="Empathize circle"/>
          <p:cNvSpPr/>
          <p:nvPr/>
        </p:nvSpPr>
        <p:spPr>
          <a:xfrm>
            <a:off x="822960" y="1508760"/>
            <a:ext cx="914400" cy="914400"/>
          </a:xfrm>
          <a:prstGeom prst="ellipse">
            <a:avLst/>
          </a:prstGeom>
          <a:solidFill>
            <a:schemeClr val="accent1"/>
          </a:solidFill>
          <a:ln/>
        </p:spPr>
      </p:sp>
      <p:pic>
        <p:nvPicPr>
          <p:cNvPr id="6" name="Image 0" descr="Empathize">    </p:cNvPr>
          <p:cNvPicPr>
            <a:picLocks noChangeAspect="1"/>
          </p:cNvPicPr>
          <p:nvPr/>
        </p:nvPicPr>
        <p:blipFill>
          <a:blip r:embed="rId1"/>
          <a:stretch>
            <a:fillRect/>
          </a:stretch>
        </p:blipFill>
        <p:spPr>
          <a:xfrm>
            <a:off x="1051560" y="1737360"/>
            <a:ext cx="457200" cy="457200"/>
          </a:xfrm>
          <a:prstGeom prst="rect">
            <a:avLst/>
          </a:prstGeom>
        </p:spPr>
      </p:pic>
      <p:sp>
        <p:nvSpPr>
          <p:cNvPr id="7" name="Text 4"/>
          <p:cNvSpPr txBox="1"/>
          <p:nvPr/>
        </p:nvSpPr>
        <p:spPr>
          <a:xfrm>
            <a:off x="1508760" y="1417320"/>
            <a:ext cx="274320" cy="27432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Text 5"/>
          <p:cNvSpPr txBox="1"/>
          <p:nvPr/>
        </p:nvSpPr>
        <p:spPr>
          <a:xfrm>
            <a:off x="457200" y="2606040"/>
            <a:ext cx="1645920" cy="320040"/>
          </a:xfrm>
          <a:prstGeom prst="rect">
            <a:avLst/>
          </a:prstGeom>
          <a:noFill/>
          <a:ln/>
        </p:spPr>
        <p:txBody>
          <a:bodyPr wrap="square" lIns="0" tIns="0" rIns="0" bIns="0" rtlCol="0" anchor="t"/>
          <a:lstStyle/>
          <a:p>
            <a:pPr indent="0" marL="0">
              <a:buNone/>
            </a:pPr>
            <a:r>
              <a:rPr lang="en-US" sz="1800" b="1" dirty="0">
                <a:solidFill>
                  <a:schemeClr val="tx2"/>
                </a:solidFill>
              </a:rPr>
              <a:t>Empathize</a:t>
            </a:r>
            <a:endParaRPr lang="en-US" sz="1800" dirty="0"/>
          </a:p>
        </p:txBody>
      </p:sp>
      <p:sp>
        <p:nvSpPr>
          <p:cNvPr id="9" name="Text 6"/>
          <p:cNvSpPr txBox="1"/>
          <p:nvPr/>
        </p:nvSpPr>
        <p:spPr>
          <a:xfrm>
            <a:off x="457200" y="2971800"/>
            <a:ext cx="1554480" cy="822960"/>
          </a:xfrm>
          <a:prstGeom prst="rect">
            <a:avLst/>
          </a:prstGeom>
          <a:noFill/>
          <a:ln/>
        </p:spPr>
        <p:txBody>
          <a:bodyPr wrap="square" lIns="0" tIns="0" rIns="0" bIns="0" rtlCol="0" anchor="t"/>
          <a:lstStyle/>
          <a:p>
            <a:pPr indent="0" marL="0">
              <a:buNone/>
            </a:pPr>
            <a:r>
              <a:rPr lang="en-US" sz="1400" dirty="0">
                <a:solidFill>
                  <a:schemeClr val="tx1"/>
                </a:solidFill>
              </a:rPr>
              <a:t>Understand students' needs</a:t>
            </a:r>
            <a:endParaRPr lang="en-US" sz="1400" dirty="0"/>
          </a:p>
        </p:txBody>
      </p:sp>
      <p:sp>
        <p:nvSpPr>
          <p:cNvPr id="10" name="Define circle"/>
          <p:cNvSpPr/>
          <p:nvPr/>
        </p:nvSpPr>
        <p:spPr>
          <a:xfrm>
            <a:off x="2514600" y="1508760"/>
            <a:ext cx="914400" cy="914400"/>
          </a:xfrm>
          <a:prstGeom prst="ellipse">
            <a:avLst/>
          </a:prstGeom>
          <a:solidFill>
            <a:schemeClr val="accent2"/>
          </a:solidFill>
          <a:ln/>
        </p:spPr>
      </p:sp>
      <p:pic>
        <p:nvPicPr>
          <p:cNvPr id="11" name="Image 1" descr="Define">    </p:cNvPr>
          <p:cNvPicPr>
            <a:picLocks noChangeAspect="1"/>
          </p:cNvPicPr>
          <p:nvPr/>
        </p:nvPicPr>
        <p:blipFill>
          <a:blip r:embed="rId2"/>
          <a:stretch>
            <a:fillRect/>
          </a:stretch>
        </p:blipFill>
        <p:spPr>
          <a:xfrm>
            <a:off x="2743200" y="1737360"/>
            <a:ext cx="457200" cy="457200"/>
          </a:xfrm>
          <a:prstGeom prst="rect">
            <a:avLst/>
          </a:prstGeom>
        </p:spPr>
      </p:pic>
      <p:sp>
        <p:nvSpPr>
          <p:cNvPr id="12" name="Text 8"/>
          <p:cNvSpPr txBox="1"/>
          <p:nvPr/>
        </p:nvSpPr>
        <p:spPr>
          <a:xfrm>
            <a:off x="3200400" y="1417320"/>
            <a:ext cx="274320" cy="27432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3" name="Text 9"/>
          <p:cNvSpPr txBox="1"/>
          <p:nvPr/>
        </p:nvSpPr>
        <p:spPr>
          <a:xfrm>
            <a:off x="2148840" y="2606040"/>
            <a:ext cx="1645920" cy="320040"/>
          </a:xfrm>
          <a:prstGeom prst="rect">
            <a:avLst/>
          </a:prstGeom>
          <a:noFill/>
          <a:ln/>
        </p:spPr>
        <p:txBody>
          <a:bodyPr wrap="square" lIns="0" tIns="0" rIns="0" bIns="0" rtlCol="0" anchor="t"/>
          <a:lstStyle/>
          <a:p>
            <a:pPr indent="0" marL="0">
              <a:buNone/>
            </a:pPr>
            <a:r>
              <a:rPr lang="en-US" sz="1800" b="1" dirty="0">
                <a:solidFill>
                  <a:schemeClr val="tx2"/>
                </a:solidFill>
              </a:rPr>
              <a:t>Define</a:t>
            </a:r>
            <a:endParaRPr lang="en-US" sz="1800" dirty="0"/>
          </a:p>
        </p:txBody>
      </p:sp>
      <p:sp>
        <p:nvSpPr>
          <p:cNvPr id="14" name="Text 10"/>
          <p:cNvSpPr txBox="1"/>
          <p:nvPr/>
        </p:nvSpPr>
        <p:spPr>
          <a:xfrm>
            <a:off x="2148840" y="2971800"/>
            <a:ext cx="1554480" cy="822960"/>
          </a:xfrm>
          <a:prstGeom prst="rect">
            <a:avLst/>
          </a:prstGeom>
          <a:noFill/>
          <a:ln/>
        </p:spPr>
        <p:txBody>
          <a:bodyPr wrap="square" lIns="0" tIns="0" rIns="0" bIns="0" rtlCol="0" anchor="t"/>
          <a:lstStyle/>
          <a:p>
            <a:pPr indent="0" marL="0">
              <a:buNone/>
            </a:pPr>
            <a:r>
              <a:rPr lang="en-US" sz="1400" dirty="0">
                <a:solidFill>
                  <a:schemeClr val="tx1"/>
                </a:solidFill>
              </a:rPr>
              <a:t>Identify the core problem</a:t>
            </a:r>
            <a:endParaRPr lang="en-US" sz="1400" dirty="0"/>
          </a:p>
        </p:txBody>
      </p:sp>
      <p:sp>
        <p:nvSpPr>
          <p:cNvPr id="15" name="Ideate circle"/>
          <p:cNvSpPr/>
          <p:nvPr/>
        </p:nvSpPr>
        <p:spPr>
          <a:xfrm>
            <a:off x="4206240" y="1508760"/>
            <a:ext cx="914400" cy="914400"/>
          </a:xfrm>
          <a:prstGeom prst="ellipse">
            <a:avLst/>
          </a:prstGeom>
          <a:solidFill>
            <a:schemeClr val="accent1"/>
          </a:solidFill>
          <a:ln/>
        </p:spPr>
      </p:sp>
      <p:pic>
        <p:nvPicPr>
          <p:cNvPr id="16" name="Image 2" descr="Ideate">    </p:cNvPr>
          <p:cNvPicPr>
            <a:picLocks noChangeAspect="1"/>
          </p:cNvPicPr>
          <p:nvPr/>
        </p:nvPicPr>
        <p:blipFill>
          <a:blip r:embed="rId3"/>
          <a:stretch>
            <a:fillRect/>
          </a:stretch>
        </p:blipFill>
        <p:spPr>
          <a:xfrm>
            <a:off x="4434840" y="1737360"/>
            <a:ext cx="457200" cy="457200"/>
          </a:xfrm>
          <a:prstGeom prst="rect">
            <a:avLst/>
          </a:prstGeom>
        </p:spPr>
      </p:pic>
      <p:sp>
        <p:nvSpPr>
          <p:cNvPr id="17" name="Text 12"/>
          <p:cNvSpPr txBox="1"/>
          <p:nvPr/>
        </p:nvSpPr>
        <p:spPr>
          <a:xfrm>
            <a:off x="4892040" y="1417320"/>
            <a:ext cx="274320" cy="27432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8" name="Text 13"/>
          <p:cNvSpPr txBox="1"/>
          <p:nvPr/>
        </p:nvSpPr>
        <p:spPr>
          <a:xfrm>
            <a:off x="3840480" y="2606040"/>
            <a:ext cx="1645920" cy="320040"/>
          </a:xfrm>
          <a:prstGeom prst="rect">
            <a:avLst/>
          </a:prstGeom>
          <a:noFill/>
          <a:ln/>
        </p:spPr>
        <p:txBody>
          <a:bodyPr wrap="square" lIns="0" tIns="0" rIns="0" bIns="0" rtlCol="0" anchor="t"/>
          <a:lstStyle/>
          <a:p>
            <a:pPr indent="0" marL="0">
              <a:buNone/>
            </a:pPr>
            <a:r>
              <a:rPr lang="en-US" sz="1800" b="1" dirty="0">
                <a:solidFill>
                  <a:schemeClr val="tx2"/>
                </a:solidFill>
              </a:rPr>
              <a:t>Ideate</a:t>
            </a:r>
            <a:endParaRPr lang="en-US" sz="1800" dirty="0"/>
          </a:p>
        </p:txBody>
      </p:sp>
      <p:sp>
        <p:nvSpPr>
          <p:cNvPr id="19" name="Text 14"/>
          <p:cNvSpPr txBox="1"/>
          <p:nvPr/>
        </p:nvSpPr>
        <p:spPr>
          <a:xfrm>
            <a:off x="3840480" y="2971800"/>
            <a:ext cx="1554480" cy="822960"/>
          </a:xfrm>
          <a:prstGeom prst="rect">
            <a:avLst/>
          </a:prstGeom>
          <a:noFill/>
          <a:ln/>
        </p:spPr>
        <p:txBody>
          <a:bodyPr wrap="square" lIns="0" tIns="0" rIns="0" bIns="0" rtlCol="0" anchor="t"/>
          <a:lstStyle/>
          <a:p>
            <a:pPr indent="0" marL="0">
              <a:buNone/>
            </a:pPr>
            <a:r>
              <a:rPr lang="en-US" sz="1400" dirty="0">
                <a:solidFill>
                  <a:schemeClr val="tx1"/>
                </a:solidFill>
              </a:rPr>
              <a:t>Generate possible solutions</a:t>
            </a:r>
            <a:endParaRPr lang="en-US" sz="1400" dirty="0"/>
          </a:p>
        </p:txBody>
      </p:sp>
      <p:sp>
        <p:nvSpPr>
          <p:cNvPr id="20" name="Prototype circle"/>
          <p:cNvSpPr/>
          <p:nvPr/>
        </p:nvSpPr>
        <p:spPr>
          <a:xfrm>
            <a:off x="5897880" y="1508760"/>
            <a:ext cx="914400" cy="914400"/>
          </a:xfrm>
          <a:prstGeom prst="ellipse">
            <a:avLst/>
          </a:prstGeom>
          <a:solidFill>
            <a:schemeClr val="accent2"/>
          </a:solidFill>
          <a:ln/>
        </p:spPr>
      </p:sp>
      <p:pic>
        <p:nvPicPr>
          <p:cNvPr id="21" name="Image 3" descr="Prototype">    </p:cNvPr>
          <p:cNvPicPr>
            <a:picLocks noChangeAspect="1"/>
          </p:cNvPicPr>
          <p:nvPr/>
        </p:nvPicPr>
        <p:blipFill>
          <a:blip r:embed="rId4"/>
          <a:stretch>
            <a:fillRect/>
          </a:stretch>
        </p:blipFill>
        <p:spPr>
          <a:xfrm>
            <a:off x="6126480" y="1737360"/>
            <a:ext cx="457200" cy="457200"/>
          </a:xfrm>
          <a:prstGeom prst="rect">
            <a:avLst/>
          </a:prstGeom>
        </p:spPr>
      </p:pic>
      <p:sp>
        <p:nvSpPr>
          <p:cNvPr id="22" name="Text 16"/>
          <p:cNvSpPr txBox="1"/>
          <p:nvPr/>
        </p:nvSpPr>
        <p:spPr>
          <a:xfrm>
            <a:off x="6583680" y="1417320"/>
            <a:ext cx="274320" cy="27432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3" name="Text 17"/>
          <p:cNvSpPr txBox="1"/>
          <p:nvPr/>
        </p:nvSpPr>
        <p:spPr>
          <a:xfrm>
            <a:off x="5532120" y="2606040"/>
            <a:ext cx="1645920" cy="320040"/>
          </a:xfrm>
          <a:prstGeom prst="rect">
            <a:avLst/>
          </a:prstGeom>
          <a:noFill/>
          <a:ln/>
        </p:spPr>
        <p:txBody>
          <a:bodyPr wrap="square" lIns="0" tIns="0" rIns="0" bIns="0" rtlCol="0" anchor="t"/>
          <a:lstStyle/>
          <a:p>
            <a:pPr indent="0" marL="0">
              <a:buNone/>
            </a:pPr>
            <a:r>
              <a:rPr lang="en-US" sz="1800" b="1" dirty="0">
                <a:solidFill>
                  <a:schemeClr val="tx2"/>
                </a:solidFill>
              </a:rPr>
              <a:t>Prototype</a:t>
            </a:r>
            <a:endParaRPr lang="en-US" sz="1800" dirty="0"/>
          </a:p>
        </p:txBody>
      </p:sp>
      <p:sp>
        <p:nvSpPr>
          <p:cNvPr id="24" name="Text 18"/>
          <p:cNvSpPr txBox="1"/>
          <p:nvPr/>
        </p:nvSpPr>
        <p:spPr>
          <a:xfrm>
            <a:off x="5532120" y="2971800"/>
            <a:ext cx="1554480" cy="822960"/>
          </a:xfrm>
          <a:prstGeom prst="rect">
            <a:avLst/>
          </a:prstGeom>
          <a:noFill/>
          <a:ln/>
        </p:spPr>
        <p:txBody>
          <a:bodyPr wrap="square" lIns="0" tIns="0" rIns="0" bIns="0" rtlCol="0" anchor="t"/>
          <a:lstStyle/>
          <a:p>
            <a:pPr indent="0" marL="0">
              <a:buNone/>
            </a:pPr>
            <a:r>
              <a:rPr lang="en-US" sz="1400" dirty="0">
                <a:solidFill>
                  <a:schemeClr val="tx1"/>
                </a:solidFill>
              </a:rPr>
              <a:t>Develop the web application</a:t>
            </a:r>
            <a:endParaRPr lang="en-US" sz="1400" dirty="0"/>
          </a:p>
        </p:txBody>
      </p:sp>
      <p:sp>
        <p:nvSpPr>
          <p:cNvPr id="25" name="Test circle"/>
          <p:cNvSpPr/>
          <p:nvPr/>
        </p:nvSpPr>
        <p:spPr>
          <a:xfrm>
            <a:off x="7589520" y="1508760"/>
            <a:ext cx="914400" cy="914400"/>
          </a:xfrm>
          <a:prstGeom prst="ellipse">
            <a:avLst/>
          </a:prstGeom>
          <a:solidFill>
            <a:schemeClr val="accent1"/>
          </a:solidFill>
          <a:ln/>
        </p:spPr>
      </p:sp>
      <p:pic>
        <p:nvPicPr>
          <p:cNvPr id="26" name="Image 4" descr="Test">    </p:cNvPr>
          <p:cNvPicPr>
            <a:picLocks noChangeAspect="1"/>
          </p:cNvPicPr>
          <p:nvPr/>
        </p:nvPicPr>
        <p:blipFill>
          <a:blip r:embed="rId5"/>
          <a:stretch>
            <a:fillRect/>
          </a:stretch>
        </p:blipFill>
        <p:spPr>
          <a:xfrm>
            <a:off x="7818120" y="1737360"/>
            <a:ext cx="457200" cy="457200"/>
          </a:xfrm>
          <a:prstGeom prst="rect">
            <a:avLst/>
          </a:prstGeom>
        </p:spPr>
      </p:pic>
      <p:sp>
        <p:nvSpPr>
          <p:cNvPr id="27" name="Text 20"/>
          <p:cNvSpPr txBox="1"/>
          <p:nvPr/>
        </p:nvSpPr>
        <p:spPr>
          <a:xfrm>
            <a:off x="8275320" y="1417320"/>
            <a:ext cx="274320" cy="274320"/>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28" name="Text 21"/>
          <p:cNvSpPr txBox="1"/>
          <p:nvPr/>
        </p:nvSpPr>
        <p:spPr>
          <a:xfrm>
            <a:off x="7223760" y="2606040"/>
            <a:ext cx="1645920" cy="320040"/>
          </a:xfrm>
          <a:prstGeom prst="rect">
            <a:avLst/>
          </a:prstGeom>
          <a:noFill/>
          <a:ln/>
        </p:spPr>
        <p:txBody>
          <a:bodyPr wrap="square" lIns="0" tIns="0" rIns="0" bIns="0" rtlCol="0" anchor="t"/>
          <a:lstStyle/>
          <a:p>
            <a:pPr indent="0" marL="0">
              <a:buNone/>
            </a:pPr>
            <a:r>
              <a:rPr lang="en-US" sz="1800" b="1" dirty="0">
                <a:solidFill>
                  <a:schemeClr val="tx2"/>
                </a:solidFill>
              </a:rPr>
              <a:t>Test</a:t>
            </a:r>
            <a:endParaRPr lang="en-US" sz="1800" dirty="0"/>
          </a:p>
        </p:txBody>
      </p:sp>
      <p:sp>
        <p:nvSpPr>
          <p:cNvPr id="29" name="Text 22"/>
          <p:cNvSpPr txBox="1"/>
          <p:nvPr/>
        </p:nvSpPr>
        <p:spPr>
          <a:xfrm>
            <a:off x="7223760" y="2971800"/>
            <a:ext cx="1554480" cy="822960"/>
          </a:xfrm>
          <a:prstGeom prst="rect">
            <a:avLst/>
          </a:prstGeom>
          <a:noFill/>
          <a:ln/>
        </p:spPr>
        <p:txBody>
          <a:bodyPr wrap="square" lIns="0" tIns="0" rIns="0" bIns="0" rtlCol="0" anchor="t"/>
          <a:lstStyle/>
          <a:p>
            <a:pPr indent="0" marL="0">
              <a:buNone/>
            </a:pPr>
            <a:r>
              <a:rPr lang="en-US" sz="1400" dirty="0">
                <a:solidFill>
                  <a:schemeClr val="tx1"/>
                </a:solidFill>
              </a:rPr>
              <a:t>Evaluate and improve the application</a:t>
            </a:r>
            <a:endParaRPr lang="en-US" sz="1400" dirty="0"/>
          </a:p>
        </p:txBody>
      </p:sp>
      <p:sp>
        <p:nvSpPr>
          <p:cNvPr id="30" name="method note"/>
          <p:cNvSpPr/>
          <p:nvPr/>
        </p:nvSpPr>
        <p:spPr>
          <a:xfrm>
            <a:off x="457200" y="3931920"/>
            <a:ext cx="8229600" cy="548640"/>
          </a:xfrm>
          <a:prstGeom prst="roundRect">
            <a:avLst>
              <a:gd name="adj" fmla="val 20000"/>
            </a:avLst>
          </a:prstGeom>
          <a:solidFill>
            <a:schemeClr val="bg2"/>
          </a:solidFill>
          <a:ln/>
        </p:spPr>
      </p:sp>
      <p:sp>
        <p:nvSpPr>
          <p:cNvPr id="31" name="Text 24"/>
          <p:cNvSpPr txBox="1"/>
          <p:nvPr/>
        </p:nvSpPr>
        <p:spPr>
          <a:xfrm>
            <a:off x="685800" y="3931920"/>
            <a:ext cx="7772400" cy="548640"/>
          </a:xfrm>
          <a:prstGeom prst="rect">
            <a:avLst/>
          </a:prstGeom>
          <a:noFill/>
          <a:ln/>
        </p:spPr>
        <p:txBody>
          <a:bodyPr wrap="square" lIns="0" tIns="0" rIns="0" bIns="0" rtlCol="0" anchor="ctr"/>
          <a:lstStyle/>
          <a:p>
            <a:pPr indent="0" marL="0">
              <a:buNone/>
            </a:pPr>
            <a:r>
              <a:rPr lang="en-US" sz="1500" b="1" dirty="0">
                <a:solidFill>
                  <a:schemeClr val="tx2"/>
                </a:solidFill>
              </a:rPr>
              <a:t>Chosen for its clear structure and iterative nature: test feedback led to a re-design.</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Existing Systems and Research Gap</a:t>
            </a:r>
            <a:endParaRPr lang="en-US" sz="3200" dirty="0"/>
          </a:p>
        </p:txBody>
      </p:sp>
      <p:sp>
        <p:nvSpPr>
          <p:cNvPr id="3" name="Text 1"/>
          <p:cNvSpPr txBox="1"/>
          <p:nvPr/>
        </p:nvSpPr>
        <p:spPr>
          <a:xfrm>
            <a:off x="457200" y="1188720"/>
            <a:ext cx="3840480" cy="320040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Existing apps: Woebot, Wysa and mood-tracking platforms</a:t>
            </a:r>
            <a:endParaRPr lang="en-US" sz="1600" dirty="0"/>
          </a:p>
          <a:p>
            <a:pPr marL="342900" indent="-342900">
              <a:spcAft>
                <a:spcPts val="500"/>
              </a:spcAft>
              <a:buSzPct val="100000"/>
              <a:buChar char="•"/>
            </a:pPr>
            <a:r>
              <a:rPr lang="en-US" sz="1600" dirty="0">
                <a:solidFill>
                  <a:schemeClr val="tx1"/>
                </a:solidFill>
              </a:rPr>
              <a:t>Some depend on complex AI models and cloud services</a:t>
            </a:r>
            <a:endParaRPr lang="en-US" sz="1600" dirty="0"/>
          </a:p>
          <a:p>
            <a:pPr marL="342900" indent="-342900">
              <a:spcAft>
                <a:spcPts val="500"/>
              </a:spcAft>
              <a:buSzPct val="100000"/>
              <a:buChar char="•"/>
            </a:pPr>
            <a:r>
              <a:rPr lang="en-US" sz="1600" dirty="0">
                <a:solidFill>
                  <a:schemeClr val="tx1"/>
                </a:solidFill>
              </a:rPr>
              <a:t>Subscription costs and privacy concerns limit access</a:t>
            </a:r>
            <a:endParaRPr lang="en-US" sz="1600" dirty="0"/>
          </a:p>
          <a:p>
            <a:pPr marL="342900" indent="-342900">
              <a:spcAft>
                <a:spcPts val="500"/>
              </a:spcAft>
              <a:buSzPct val="100000"/>
              <a:buChar char="•"/>
            </a:pPr>
            <a:r>
              <a:rPr lang="en-US" sz="1600" dirty="0">
                <a:solidFill>
                  <a:schemeClr val="tx1"/>
                </a:solidFill>
              </a:rPr>
              <a:t>MindMate AI: simple, student-focused chatbot plus mood tracking</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0" y="1188720"/>
          <a:ext cx="4114800" cy="914400"/>
        </p:xfrm>
        <a:graphic>
          <a:graphicData uri="http://schemas.openxmlformats.org/drawingml/2006/table">
            <a:tbl>
              <a:tblPr/>
              <a:tblGrid>
                <a:gridCol w="1371600"/>
                <a:gridCol w="1234440"/>
                <a:gridCol w="1508760"/>
              </a:tblGrid>
              <a:tr h="502920">
                <a:tc>
                  <a:txBody>
                    <a:bodyPr/>
                    <a:lstStyle/>
                    <a:p>
                      <a:pPr indent="0" marL="0">
                        <a:buNone/>
                      </a:pPr>
                      <a:r>
                        <a:rPr lang="en-US" sz="1400" b="1" dirty="0">
                          <a:solidFill>
                            <a:srgbClr val="FFFFFF"/>
                          </a:solidFill>
                        </a:rPr>
                        <a:t>Feature</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3A2D8F"/>
                    </a:solidFill>
                  </a:tcPr>
                </a:tc>
                <a:tc>
                  <a:txBody>
                    <a:bodyPr/>
                    <a:lstStyle/>
                    <a:p>
                      <a:pPr indent="0" marL="0">
                        <a:buNone/>
                      </a:pPr>
                      <a:r>
                        <a:rPr lang="en-US" sz="1400" b="1" dirty="0">
                          <a:solidFill>
                            <a:srgbClr val="FFFFFF"/>
                          </a:solidFill>
                        </a:rPr>
                        <a:t>Existing apps</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3A2D8F"/>
                    </a:solidFill>
                  </a:tcPr>
                </a:tc>
                <a:tc>
                  <a:txBody>
                    <a:bodyPr/>
                    <a:lstStyle/>
                    <a:p>
                      <a:pPr indent="0" marL="0">
                        <a:buNone/>
                      </a:pPr>
                      <a:r>
                        <a:rPr lang="en-US" sz="1400" b="1" dirty="0">
                          <a:solidFill>
                            <a:srgbClr val="FFFFFF"/>
                          </a:solidFill>
                        </a:rPr>
                        <a:t>MindMate AI</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3A2D8F"/>
                    </a:solidFill>
                  </a:tcPr>
                </a:tc>
              </a:tr>
              <a:tr h="502920">
                <a:tc>
                  <a:txBody>
                    <a:bodyPr/>
                    <a:lstStyle/>
                    <a:p>
                      <a:pPr indent="0" marL="0">
                        <a:buNone/>
                      </a:pPr>
                      <a:r>
                        <a:rPr lang="en-US" sz="1400" b="1" dirty="0">
                          <a:solidFill>
                            <a:srgbClr val="3A2D8F"/>
                          </a:solidFill>
                        </a:rPr>
                        <a:t>Internet required</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dirty="0">
                          <a:solidFill>
                            <a:srgbClr val="1E1B3A"/>
                          </a:solidFill>
                        </a:rPr>
                        <a:t>Yes</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b="1" dirty="0">
                          <a:solidFill>
                            <a:srgbClr val="1E1B3A"/>
                          </a:solidFill>
                        </a:rPr>
                        <a:t>Yes (AI chatbot)</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E9E5FF"/>
                    </a:solidFill>
                  </a:tcPr>
                </a:tc>
              </a:tr>
              <a:tr h="502920">
                <a:tc>
                  <a:txBody>
                    <a:bodyPr/>
                    <a:lstStyle/>
                    <a:p>
                      <a:pPr indent="0" marL="0">
                        <a:buNone/>
                      </a:pPr>
                      <a:r>
                        <a:rPr lang="en-US" sz="1400" b="1" dirty="0">
                          <a:solidFill>
                            <a:srgbClr val="3A2D8F"/>
                          </a:solidFill>
                        </a:rPr>
                        <a:t>Complexity</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dirty="0">
                          <a:solidFill>
                            <a:srgbClr val="1E1B3A"/>
                          </a:solidFill>
                        </a:rPr>
                        <a:t>High</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b="1" dirty="0">
                          <a:solidFill>
                            <a:srgbClr val="1E1B3A"/>
                          </a:solidFill>
                        </a:rPr>
                        <a:t>Moderate</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E9E5FF"/>
                    </a:solidFill>
                  </a:tcPr>
                </a:tc>
              </a:tr>
              <a:tr h="502920">
                <a:tc>
                  <a:txBody>
                    <a:bodyPr/>
                    <a:lstStyle/>
                    <a:p>
                      <a:pPr indent="0" marL="0">
                        <a:buNone/>
                      </a:pPr>
                      <a:r>
                        <a:rPr lang="en-US" sz="1400" b="1" dirty="0">
                          <a:solidFill>
                            <a:srgbClr val="3A2D8F"/>
                          </a:solidFill>
                        </a:rPr>
                        <a:t>Privacy</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dirty="0">
                          <a:solidFill>
                            <a:srgbClr val="1E1B3A"/>
                          </a:solidFill>
                        </a:rPr>
                        <a:t>Moderate</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b="1" dirty="0">
                          <a:solidFill>
                            <a:srgbClr val="1E1B3A"/>
                          </a:solidFill>
                        </a:rPr>
                        <a:t>High</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E9E5FF"/>
                    </a:solidFill>
                  </a:tcPr>
                </a:tc>
              </a:tr>
              <a:tr h="502920">
                <a:tc>
                  <a:txBody>
                    <a:bodyPr/>
                    <a:lstStyle/>
                    <a:p>
                      <a:pPr indent="0" marL="0">
                        <a:buNone/>
                      </a:pPr>
                      <a:r>
                        <a:rPr lang="en-US" sz="1400" b="1" dirty="0">
                          <a:solidFill>
                            <a:srgbClr val="3A2D8F"/>
                          </a:solidFill>
                        </a:rPr>
                        <a:t>Cost</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dirty="0">
                          <a:solidFill>
                            <a:srgbClr val="1E1B3A"/>
                          </a:solidFill>
                        </a:rPr>
                        <a:t>Paid / Freemium</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b="1" dirty="0">
                          <a:solidFill>
                            <a:srgbClr val="1E1B3A"/>
                          </a:solidFill>
                        </a:rPr>
                        <a:t>Free</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E9E5FF"/>
                    </a:solidFill>
                  </a:tcPr>
                </a:tc>
              </a:tr>
              <a:tr h="502920">
                <a:tc>
                  <a:txBody>
                    <a:bodyPr/>
                    <a:lstStyle/>
                    <a:p>
                      <a:pPr indent="0" marL="0">
                        <a:buNone/>
                      </a:pPr>
                      <a:r>
                        <a:rPr lang="en-US" sz="1400" b="1" dirty="0">
                          <a:solidFill>
                            <a:srgbClr val="3A2D8F"/>
                          </a:solidFill>
                        </a:rPr>
                        <a:t>Accessibility</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dirty="0">
                          <a:solidFill>
                            <a:srgbClr val="1E1B3A"/>
                          </a:solidFill>
                        </a:rPr>
                        <a:t>Medium</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400" b="1" dirty="0">
                          <a:solidFill>
                            <a:srgbClr val="1E1B3A"/>
                          </a:solidFill>
                        </a:rPr>
                        <a:t>High</a:t>
                      </a:r>
                      <a:endParaRPr lang="en-US" sz="1400" dirty="0"/>
                    </a:p>
                  </a:txBody>
                  <a:tcPr marL="91440" marR="91440"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E9E5FF"/>
                    </a:solidFill>
                  </a:tcPr>
                </a:tc>
              </a:tr>
            </a:tbl>
          </a:graphicData>
        </a:graphic>
      </p:graphicFrame>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Technologies Used</a:t>
            </a:r>
            <a:endParaRPr lang="en-US" sz="3200" dirty="0"/>
          </a:p>
        </p:txBody>
      </p:sp>
      <p:sp>
        <p:nvSpPr>
          <p:cNvPr id="3" name="HTML card"/>
          <p:cNvSpPr/>
          <p:nvPr/>
        </p:nvSpPr>
        <p:spPr>
          <a:xfrm>
            <a:off x="457200" y="1188720"/>
            <a:ext cx="1554480" cy="2743200"/>
          </a:xfrm>
          <a:prstGeom prst="roundRect">
            <a:avLst>
              <a:gd name="adj" fmla="val 7059"/>
            </a:avLst>
          </a:prstGeom>
          <a:solidFill>
            <a:schemeClr val="bg2"/>
          </a:solidFill>
          <a:ln/>
        </p:spPr>
      </p:sp>
      <p:sp>
        <p:nvSpPr>
          <p:cNvPr id="4" name="HTML circle"/>
          <p:cNvSpPr/>
          <p:nvPr/>
        </p:nvSpPr>
        <p:spPr>
          <a:xfrm>
            <a:off x="594360" y="1371600"/>
            <a:ext cx="731520" cy="731520"/>
          </a:xfrm>
          <a:prstGeom prst="ellipse">
            <a:avLst/>
          </a:prstGeom>
          <a:solidFill>
            <a:schemeClr val="accent1"/>
          </a:solidFill>
          <a:ln/>
        </p:spPr>
      </p:sp>
      <p:pic>
        <p:nvPicPr>
          <p:cNvPr id="5" name="Image 0" descr="HTML">    </p:cNvPr>
          <p:cNvPicPr>
            <a:picLocks noChangeAspect="1"/>
          </p:cNvPicPr>
          <p:nvPr/>
        </p:nvPicPr>
        <p:blipFill>
          <a:blip r:embed="rId1"/>
          <a:stretch>
            <a:fillRect/>
          </a:stretch>
        </p:blipFill>
        <p:spPr>
          <a:xfrm>
            <a:off x="777240" y="1554480"/>
            <a:ext cx="365760" cy="365760"/>
          </a:xfrm>
          <a:prstGeom prst="rect">
            <a:avLst/>
          </a:prstGeom>
        </p:spPr>
      </p:pic>
      <p:sp>
        <p:nvSpPr>
          <p:cNvPr id="6" name="Text 3"/>
          <p:cNvSpPr txBox="1"/>
          <p:nvPr/>
        </p:nvSpPr>
        <p:spPr>
          <a:xfrm>
            <a:off x="594360" y="2286000"/>
            <a:ext cx="1325880" cy="320040"/>
          </a:xfrm>
          <a:prstGeom prst="rect">
            <a:avLst/>
          </a:prstGeom>
          <a:noFill/>
          <a:ln/>
        </p:spPr>
        <p:txBody>
          <a:bodyPr wrap="square" lIns="0" tIns="0" rIns="0" bIns="0" rtlCol="0" anchor="t"/>
          <a:lstStyle/>
          <a:p>
            <a:pPr indent="0" marL="0">
              <a:buNone/>
            </a:pPr>
            <a:r>
              <a:rPr lang="en-US" sz="1700" b="1" dirty="0">
                <a:solidFill>
                  <a:schemeClr val="tx2"/>
                </a:solidFill>
              </a:rPr>
              <a:t>HTML</a:t>
            </a:r>
            <a:endParaRPr lang="en-US" sz="1700" dirty="0"/>
          </a:p>
        </p:txBody>
      </p:sp>
      <p:sp>
        <p:nvSpPr>
          <p:cNvPr id="7" name="Text 4"/>
          <p:cNvSpPr txBox="1"/>
          <p:nvPr/>
        </p:nvSpPr>
        <p:spPr>
          <a:xfrm>
            <a:off x="594360" y="2651760"/>
            <a:ext cx="1280160" cy="1188720"/>
          </a:xfrm>
          <a:prstGeom prst="rect">
            <a:avLst/>
          </a:prstGeom>
          <a:noFill/>
          <a:ln/>
        </p:spPr>
        <p:txBody>
          <a:bodyPr wrap="square" lIns="0" tIns="0" rIns="0" bIns="0" rtlCol="0" anchor="t"/>
          <a:lstStyle/>
          <a:p>
            <a:pPr indent="0" marL="0">
              <a:buNone/>
            </a:pPr>
            <a:r>
              <a:rPr lang="en-US" sz="1400" dirty="0">
                <a:solidFill>
                  <a:schemeClr val="tx1"/>
                </a:solidFill>
              </a:rPr>
              <a:t>Web page structure</a:t>
            </a:r>
            <a:endParaRPr lang="en-US" sz="1400" dirty="0"/>
          </a:p>
        </p:txBody>
      </p:sp>
      <p:sp>
        <p:nvSpPr>
          <p:cNvPr id="8" name="CSS card"/>
          <p:cNvSpPr/>
          <p:nvPr/>
        </p:nvSpPr>
        <p:spPr>
          <a:xfrm>
            <a:off x="2125980" y="1188720"/>
            <a:ext cx="1554480" cy="2743200"/>
          </a:xfrm>
          <a:prstGeom prst="roundRect">
            <a:avLst>
              <a:gd name="adj" fmla="val 7059"/>
            </a:avLst>
          </a:prstGeom>
          <a:solidFill>
            <a:schemeClr val="bg2"/>
          </a:solidFill>
          <a:ln/>
        </p:spPr>
      </p:sp>
      <p:sp>
        <p:nvSpPr>
          <p:cNvPr id="9" name="CSS circle"/>
          <p:cNvSpPr/>
          <p:nvPr/>
        </p:nvSpPr>
        <p:spPr>
          <a:xfrm>
            <a:off x="2263140" y="1371600"/>
            <a:ext cx="731520" cy="731520"/>
          </a:xfrm>
          <a:prstGeom prst="ellipse">
            <a:avLst/>
          </a:prstGeom>
          <a:solidFill>
            <a:schemeClr val="accent2"/>
          </a:solidFill>
          <a:ln/>
        </p:spPr>
      </p:sp>
      <p:pic>
        <p:nvPicPr>
          <p:cNvPr id="10" name="Image 1" descr="CSS">    </p:cNvPr>
          <p:cNvPicPr>
            <a:picLocks noChangeAspect="1"/>
          </p:cNvPicPr>
          <p:nvPr/>
        </p:nvPicPr>
        <p:blipFill>
          <a:blip r:embed="rId2"/>
          <a:stretch>
            <a:fillRect/>
          </a:stretch>
        </p:blipFill>
        <p:spPr>
          <a:xfrm>
            <a:off x="2446020" y="1554480"/>
            <a:ext cx="365760" cy="365760"/>
          </a:xfrm>
          <a:prstGeom prst="rect">
            <a:avLst/>
          </a:prstGeom>
        </p:spPr>
      </p:pic>
      <p:sp>
        <p:nvSpPr>
          <p:cNvPr id="11" name="Text 7"/>
          <p:cNvSpPr txBox="1"/>
          <p:nvPr/>
        </p:nvSpPr>
        <p:spPr>
          <a:xfrm>
            <a:off x="2263140" y="2286000"/>
            <a:ext cx="1325880" cy="320040"/>
          </a:xfrm>
          <a:prstGeom prst="rect">
            <a:avLst/>
          </a:prstGeom>
          <a:noFill/>
          <a:ln/>
        </p:spPr>
        <p:txBody>
          <a:bodyPr wrap="square" lIns="0" tIns="0" rIns="0" bIns="0" rtlCol="0" anchor="t"/>
          <a:lstStyle/>
          <a:p>
            <a:pPr indent="0" marL="0">
              <a:buNone/>
            </a:pPr>
            <a:r>
              <a:rPr lang="en-US" sz="1700" b="1" dirty="0">
                <a:solidFill>
                  <a:schemeClr val="tx2"/>
                </a:solidFill>
              </a:rPr>
              <a:t>CSS</a:t>
            </a:r>
            <a:endParaRPr lang="en-US" sz="1700" dirty="0"/>
          </a:p>
        </p:txBody>
      </p:sp>
      <p:sp>
        <p:nvSpPr>
          <p:cNvPr id="12" name="Text 8"/>
          <p:cNvSpPr txBox="1"/>
          <p:nvPr/>
        </p:nvSpPr>
        <p:spPr>
          <a:xfrm>
            <a:off x="2263140" y="2651760"/>
            <a:ext cx="1280160" cy="1188720"/>
          </a:xfrm>
          <a:prstGeom prst="rect">
            <a:avLst/>
          </a:prstGeom>
          <a:noFill/>
          <a:ln/>
        </p:spPr>
        <p:txBody>
          <a:bodyPr wrap="square" lIns="0" tIns="0" rIns="0" bIns="0" rtlCol="0" anchor="t"/>
          <a:lstStyle/>
          <a:p>
            <a:pPr indent="0" marL="0">
              <a:buNone/>
            </a:pPr>
            <a:r>
              <a:rPr lang="en-US" sz="1400" dirty="0">
                <a:solidFill>
                  <a:schemeClr val="tx1"/>
                </a:solidFill>
              </a:rPr>
              <a:t>Styling and responsive design</a:t>
            </a:r>
            <a:endParaRPr lang="en-US" sz="1400" dirty="0"/>
          </a:p>
        </p:txBody>
      </p:sp>
      <p:sp>
        <p:nvSpPr>
          <p:cNvPr id="13" name="JavaScript card"/>
          <p:cNvSpPr/>
          <p:nvPr/>
        </p:nvSpPr>
        <p:spPr>
          <a:xfrm>
            <a:off x="3794760" y="1188720"/>
            <a:ext cx="1554480" cy="2743200"/>
          </a:xfrm>
          <a:prstGeom prst="roundRect">
            <a:avLst>
              <a:gd name="adj" fmla="val 7059"/>
            </a:avLst>
          </a:prstGeom>
          <a:solidFill>
            <a:schemeClr val="bg2"/>
          </a:solidFill>
          <a:ln/>
        </p:spPr>
      </p:sp>
      <p:sp>
        <p:nvSpPr>
          <p:cNvPr id="14" name="JavaScript circle"/>
          <p:cNvSpPr/>
          <p:nvPr/>
        </p:nvSpPr>
        <p:spPr>
          <a:xfrm>
            <a:off x="3931920" y="1371600"/>
            <a:ext cx="731520" cy="731520"/>
          </a:xfrm>
          <a:prstGeom prst="ellipse">
            <a:avLst/>
          </a:prstGeom>
          <a:solidFill>
            <a:schemeClr val="accent1"/>
          </a:solidFill>
          <a:ln/>
        </p:spPr>
      </p:sp>
      <p:pic>
        <p:nvPicPr>
          <p:cNvPr id="15" name="Image 2" descr="JavaScript">    </p:cNvPr>
          <p:cNvPicPr>
            <a:picLocks noChangeAspect="1"/>
          </p:cNvPicPr>
          <p:nvPr/>
        </p:nvPicPr>
        <p:blipFill>
          <a:blip r:embed="rId3"/>
          <a:stretch>
            <a:fillRect/>
          </a:stretch>
        </p:blipFill>
        <p:spPr>
          <a:xfrm>
            <a:off x="4114800" y="1554480"/>
            <a:ext cx="365760" cy="365760"/>
          </a:xfrm>
          <a:prstGeom prst="rect">
            <a:avLst/>
          </a:prstGeom>
        </p:spPr>
      </p:pic>
      <p:sp>
        <p:nvSpPr>
          <p:cNvPr id="16" name="Text 11"/>
          <p:cNvSpPr txBox="1"/>
          <p:nvPr/>
        </p:nvSpPr>
        <p:spPr>
          <a:xfrm>
            <a:off x="3931920" y="2286000"/>
            <a:ext cx="1325880" cy="320040"/>
          </a:xfrm>
          <a:prstGeom prst="rect">
            <a:avLst/>
          </a:prstGeom>
          <a:noFill/>
          <a:ln/>
        </p:spPr>
        <p:txBody>
          <a:bodyPr wrap="square" lIns="0" tIns="0" rIns="0" bIns="0" rtlCol="0" anchor="t"/>
          <a:lstStyle/>
          <a:p>
            <a:pPr indent="0" marL="0">
              <a:buNone/>
            </a:pPr>
            <a:r>
              <a:rPr lang="en-US" sz="1700" b="1" dirty="0">
                <a:solidFill>
                  <a:schemeClr val="tx2"/>
                </a:solidFill>
              </a:rPr>
              <a:t>JavaScript</a:t>
            </a:r>
            <a:endParaRPr lang="en-US" sz="1700" dirty="0"/>
          </a:p>
        </p:txBody>
      </p:sp>
      <p:sp>
        <p:nvSpPr>
          <p:cNvPr id="17" name="Text 12"/>
          <p:cNvSpPr txBox="1"/>
          <p:nvPr/>
        </p:nvSpPr>
        <p:spPr>
          <a:xfrm>
            <a:off x="3931920" y="2651760"/>
            <a:ext cx="1280160" cy="1188720"/>
          </a:xfrm>
          <a:prstGeom prst="rect">
            <a:avLst/>
          </a:prstGeom>
          <a:noFill/>
          <a:ln/>
        </p:spPr>
        <p:txBody>
          <a:bodyPr wrap="square" lIns="0" tIns="0" rIns="0" bIns="0" rtlCol="0" anchor="t"/>
          <a:lstStyle/>
          <a:p>
            <a:pPr indent="0" marL="0">
              <a:buNone/>
            </a:pPr>
            <a:r>
              <a:rPr lang="en-US" sz="1400" dirty="0">
                <a:solidFill>
                  <a:schemeClr val="tx1"/>
                </a:solidFill>
              </a:rPr>
              <a:t>Application logic and interactivity</a:t>
            </a:r>
            <a:endParaRPr lang="en-US" sz="1400" dirty="0"/>
          </a:p>
        </p:txBody>
      </p:sp>
      <p:sp>
        <p:nvSpPr>
          <p:cNvPr id="18" name="Firebase card"/>
          <p:cNvSpPr/>
          <p:nvPr/>
        </p:nvSpPr>
        <p:spPr>
          <a:xfrm>
            <a:off x="5463540" y="1188720"/>
            <a:ext cx="1554480" cy="2743200"/>
          </a:xfrm>
          <a:prstGeom prst="roundRect">
            <a:avLst>
              <a:gd name="adj" fmla="val 7059"/>
            </a:avLst>
          </a:prstGeom>
          <a:solidFill>
            <a:schemeClr val="bg2"/>
          </a:solidFill>
          <a:ln/>
        </p:spPr>
      </p:sp>
      <p:sp>
        <p:nvSpPr>
          <p:cNvPr id="19" name="Firebase circle"/>
          <p:cNvSpPr/>
          <p:nvPr/>
        </p:nvSpPr>
        <p:spPr>
          <a:xfrm>
            <a:off x="5600700" y="1371600"/>
            <a:ext cx="731520" cy="731520"/>
          </a:xfrm>
          <a:prstGeom prst="ellipse">
            <a:avLst/>
          </a:prstGeom>
          <a:solidFill>
            <a:schemeClr val="accent2"/>
          </a:solidFill>
          <a:ln/>
        </p:spPr>
      </p:sp>
      <p:pic>
        <p:nvPicPr>
          <p:cNvPr id="20" name="Image 3" descr="Firebase">    </p:cNvPr>
          <p:cNvPicPr>
            <a:picLocks noChangeAspect="1"/>
          </p:cNvPicPr>
          <p:nvPr/>
        </p:nvPicPr>
        <p:blipFill>
          <a:blip r:embed="rId4"/>
          <a:stretch>
            <a:fillRect/>
          </a:stretch>
        </p:blipFill>
        <p:spPr>
          <a:xfrm>
            <a:off x="5783580" y="1554480"/>
            <a:ext cx="365760" cy="365760"/>
          </a:xfrm>
          <a:prstGeom prst="rect">
            <a:avLst/>
          </a:prstGeom>
        </p:spPr>
      </p:pic>
      <p:sp>
        <p:nvSpPr>
          <p:cNvPr id="21" name="Text 15"/>
          <p:cNvSpPr txBox="1"/>
          <p:nvPr/>
        </p:nvSpPr>
        <p:spPr>
          <a:xfrm>
            <a:off x="5600700" y="2286000"/>
            <a:ext cx="1325880" cy="320040"/>
          </a:xfrm>
          <a:prstGeom prst="rect">
            <a:avLst/>
          </a:prstGeom>
          <a:noFill/>
          <a:ln/>
        </p:spPr>
        <p:txBody>
          <a:bodyPr wrap="square" lIns="0" tIns="0" rIns="0" bIns="0" rtlCol="0" anchor="t"/>
          <a:lstStyle/>
          <a:p>
            <a:pPr indent="0" marL="0">
              <a:buNone/>
            </a:pPr>
            <a:r>
              <a:rPr lang="en-US" sz="1700" b="1" dirty="0">
                <a:solidFill>
                  <a:schemeClr val="tx2"/>
                </a:solidFill>
              </a:rPr>
              <a:t>Firebase</a:t>
            </a:r>
            <a:endParaRPr lang="en-US" sz="1700" dirty="0"/>
          </a:p>
        </p:txBody>
      </p:sp>
      <p:sp>
        <p:nvSpPr>
          <p:cNvPr id="22" name="Text 16"/>
          <p:cNvSpPr txBox="1"/>
          <p:nvPr/>
        </p:nvSpPr>
        <p:spPr>
          <a:xfrm>
            <a:off x="5600700" y="2651760"/>
            <a:ext cx="1280160" cy="1188720"/>
          </a:xfrm>
          <a:prstGeom prst="rect">
            <a:avLst/>
          </a:prstGeom>
          <a:noFill/>
          <a:ln/>
        </p:spPr>
        <p:txBody>
          <a:bodyPr wrap="square" lIns="0" tIns="0" rIns="0" bIns="0" rtlCol="0" anchor="t"/>
          <a:lstStyle/>
          <a:p>
            <a:pPr indent="0" marL="0">
              <a:buNone/>
            </a:pPr>
            <a:r>
              <a:rPr lang="en-US" sz="1400" dirty="0">
                <a:solidFill>
                  <a:schemeClr val="tx1"/>
                </a:solidFill>
              </a:rPr>
              <a:t>Authentication and cloud-based data management</a:t>
            </a:r>
            <a:endParaRPr lang="en-US" sz="1400" dirty="0"/>
          </a:p>
        </p:txBody>
      </p:sp>
      <p:sp>
        <p:nvSpPr>
          <p:cNvPr id="23" name="LocalStorage card"/>
          <p:cNvSpPr/>
          <p:nvPr/>
        </p:nvSpPr>
        <p:spPr>
          <a:xfrm>
            <a:off x="7132320" y="1188720"/>
            <a:ext cx="1554480" cy="2743200"/>
          </a:xfrm>
          <a:prstGeom prst="roundRect">
            <a:avLst>
              <a:gd name="adj" fmla="val 7059"/>
            </a:avLst>
          </a:prstGeom>
          <a:solidFill>
            <a:schemeClr val="bg2"/>
          </a:solidFill>
          <a:ln/>
        </p:spPr>
      </p:sp>
      <p:sp>
        <p:nvSpPr>
          <p:cNvPr id="24" name="LocalStorage circle"/>
          <p:cNvSpPr/>
          <p:nvPr/>
        </p:nvSpPr>
        <p:spPr>
          <a:xfrm>
            <a:off x="7269480" y="1371600"/>
            <a:ext cx="731520" cy="731520"/>
          </a:xfrm>
          <a:prstGeom prst="ellipse">
            <a:avLst/>
          </a:prstGeom>
          <a:solidFill>
            <a:schemeClr val="accent1"/>
          </a:solidFill>
          <a:ln/>
        </p:spPr>
      </p:sp>
      <p:pic>
        <p:nvPicPr>
          <p:cNvPr id="25" name="Image 4" descr="LocalStorage">    </p:cNvPr>
          <p:cNvPicPr>
            <a:picLocks noChangeAspect="1"/>
          </p:cNvPicPr>
          <p:nvPr/>
        </p:nvPicPr>
        <p:blipFill>
          <a:blip r:embed="rId5"/>
          <a:stretch>
            <a:fillRect/>
          </a:stretch>
        </p:blipFill>
        <p:spPr>
          <a:xfrm>
            <a:off x="7452360" y="1554480"/>
            <a:ext cx="365760" cy="365760"/>
          </a:xfrm>
          <a:prstGeom prst="rect">
            <a:avLst/>
          </a:prstGeom>
        </p:spPr>
      </p:pic>
      <p:sp>
        <p:nvSpPr>
          <p:cNvPr id="26" name="Text 19"/>
          <p:cNvSpPr txBox="1"/>
          <p:nvPr/>
        </p:nvSpPr>
        <p:spPr>
          <a:xfrm>
            <a:off x="7269480" y="2286000"/>
            <a:ext cx="1325880" cy="320040"/>
          </a:xfrm>
          <a:prstGeom prst="rect">
            <a:avLst/>
          </a:prstGeom>
          <a:noFill/>
          <a:ln/>
        </p:spPr>
        <p:txBody>
          <a:bodyPr wrap="square" lIns="0" tIns="0" rIns="0" bIns="0" rtlCol="0" anchor="t"/>
          <a:lstStyle/>
          <a:p>
            <a:pPr indent="0" marL="0">
              <a:buNone/>
            </a:pPr>
            <a:r>
              <a:rPr lang="en-US" sz="1700" b="1" dirty="0">
                <a:solidFill>
                  <a:schemeClr val="tx2"/>
                </a:solidFill>
              </a:rPr>
              <a:t>LocalStorage</a:t>
            </a:r>
            <a:endParaRPr lang="en-US" sz="1700" dirty="0"/>
          </a:p>
        </p:txBody>
      </p:sp>
      <p:sp>
        <p:nvSpPr>
          <p:cNvPr id="27" name="Text 20"/>
          <p:cNvSpPr txBox="1"/>
          <p:nvPr/>
        </p:nvSpPr>
        <p:spPr>
          <a:xfrm>
            <a:off x="7269480" y="2651760"/>
            <a:ext cx="1280160" cy="1188720"/>
          </a:xfrm>
          <a:prstGeom prst="rect">
            <a:avLst/>
          </a:prstGeom>
          <a:noFill/>
          <a:ln/>
        </p:spPr>
        <p:txBody>
          <a:bodyPr wrap="square" lIns="0" tIns="0" rIns="0" bIns="0" rtlCol="0" anchor="t"/>
          <a:lstStyle/>
          <a:p>
            <a:pPr indent="0" marL="0">
              <a:buNone/>
            </a:pPr>
            <a:r>
              <a:rPr lang="en-US" sz="1400" dirty="0">
                <a:solidFill>
                  <a:schemeClr val="tx1"/>
                </a:solidFill>
              </a:rPr>
              <a:t>Client-side storage of selected information</a:t>
            </a:r>
            <a:endParaRPr lang="en-US" sz="1400" dirty="0"/>
          </a:p>
        </p:txBody>
      </p:sp>
      <p:sp>
        <p:nvSpPr>
          <p:cNvPr id="28" name="tech note"/>
          <p:cNvSpPr/>
          <p:nvPr/>
        </p:nvSpPr>
        <p:spPr>
          <a:xfrm>
            <a:off x="457200" y="4069080"/>
            <a:ext cx="8229600" cy="457200"/>
          </a:xfrm>
          <a:prstGeom prst="roundRect">
            <a:avLst>
              <a:gd name="adj" fmla="val 24000"/>
            </a:avLst>
          </a:prstGeom>
          <a:solidFill>
            <a:schemeClr val="tx2"/>
          </a:solidFill>
          <a:ln/>
        </p:spPr>
      </p:sp>
      <p:sp>
        <p:nvSpPr>
          <p:cNvPr id="29" name="Text 22"/>
          <p:cNvSpPr txBox="1"/>
          <p:nvPr/>
        </p:nvSpPr>
        <p:spPr>
          <a:xfrm>
            <a:off x="685800" y="4069080"/>
            <a:ext cx="7772400" cy="457200"/>
          </a:xfrm>
          <a:prstGeom prst="rect">
            <a:avLst/>
          </a:prstGeom>
          <a:noFill/>
          <a:ln/>
        </p:spPr>
        <p:txBody>
          <a:bodyPr wrap="square" lIns="0" tIns="0" rIns="0" bIns="0" rtlCol="0" anchor="ctr"/>
          <a:lstStyle/>
          <a:p>
            <a:pPr indent="0" marL="0">
              <a:buNone/>
            </a:pPr>
            <a:r>
              <a:rPr lang="en-US" sz="1500" b="1" dirty="0">
                <a:solidFill>
                  <a:schemeClr val="bg1"/>
                </a:solidFill>
              </a:rPr>
              <a:t>Chosen for simplicity, scalability and wide compatibility</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 and Workflow</a:t>
            </a:r>
            <a:endParaRPr lang="en-US" sz="3200" dirty="0"/>
          </a:p>
        </p:txBody>
      </p:sp>
      <p:sp>
        <p:nvSpPr>
          <p:cNvPr id="3" name="Text 1"/>
          <p:cNvSpPr txBox="1"/>
          <p:nvPr/>
        </p:nvSpPr>
        <p:spPr>
          <a:xfrm>
            <a:off x="457200" y="1051560"/>
            <a:ext cx="3657600" cy="228600"/>
          </a:xfrm>
          <a:prstGeom prst="rect">
            <a:avLst/>
          </a:prstGeom>
          <a:noFill/>
          <a:ln/>
        </p:spPr>
        <p:txBody>
          <a:bodyPr wrap="square" lIns="0" tIns="0" rIns="0" bIns="0" rtlCol="0" anchor="t"/>
          <a:lstStyle/>
          <a:p>
            <a:pPr indent="0" marL="0">
              <a:buNone/>
            </a:pPr>
            <a:r>
              <a:rPr lang="en-US" sz="1200" b="1" dirty="0">
                <a:solidFill>
                  <a:schemeClr val="accent1"/>
                </a:solidFill>
              </a:rPr>
              <a:t>ARCHITECTURE</a:t>
            </a:r>
            <a:endParaRPr lang="en-US" sz="1200" dirty="0"/>
          </a:p>
        </p:txBody>
      </p:sp>
      <p:sp>
        <p:nvSpPr>
          <p:cNvPr id="4" name="User box"/>
          <p:cNvSpPr/>
          <p:nvPr/>
        </p:nvSpPr>
        <p:spPr>
          <a:xfrm>
            <a:off x="457200" y="1371600"/>
            <a:ext cx="1417320" cy="1371600"/>
          </a:xfrm>
          <a:prstGeom prst="roundRect">
            <a:avLst>
              <a:gd name="adj" fmla="val 8000"/>
            </a:avLst>
          </a:prstGeom>
          <a:solidFill>
            <a:schemeClr val="tx2"/>
          </a:solidFill>
          <a:ln/>
        </p:spPr>
      </p:sp>
      <p:pic>
        <p:nvPicPr>
          <p:cNvPr id="5" name="Image 0" descr="User">    </p:cNvPr>
          <p:cNvPicPr>
            <a:picLocks noChangeAspect="1"/>
          </p:cNvPicPr>
          <p:nvPr/>
        </p:nvPicPr>
        <p:blipFill>
          <a:blip r:embed="rId1"/>
          <a:stretch>
            <a:fillRect/>
          </a:stretch>
        </p:blipFill>
        <p:spPr>
          <a:xfrm>
            <a:off x="594360" y="1508760"/>
            <a:ext cx="411480" cy="411480"/>
          </a:xfrm>
          <a:prstGeom prst="rect">
            <a:avLst/>
          </a:prstGeom>
        </p:spPr>
      </p:pic>
      <p:sp>
        <p:nvSpPr>
          <p:cNvPr id="6" name="Text 3"/>
          <p:cNvSpPr txBox="1"/>
          <p:nvPr/>
        </p:nvSpPr>
        <p:spPr>
          <a:xfrm>
            <a:off x="594360" y="2103120"/>
            <a:ext cx="1143000" cy="548640"/>
          </a:xfrm>
          <a:prstGeom prst="rect">
            <a:avLst/>
          </a:prstGeom>
          <a:noFill/>
          <a:ln/>
        </p:spPr>
        <p:txBody>
          <a:bodyPr wrap="square" lIns="0" tIns="0" rIns="0" bIns="0" rtlCol="0" anchor="t"/>
          <a:lstStyle/>
          <a:p>
            <a:pPr indent="0" marL="0">
              <a:buNone/>
            </a:pPr>
            <a:r>
              <a:rPr lang="en-US" sz="1500" b="1" dirty="0">
                <a:solidFill>
                  <a:schemeClr val="bg1"/>
                </a:solidFill>
              </a:rPr>
              <a:t>User</a:t>
            </a:r>
            <a:endParaRPr lang="en-US" sz="1500" dirty="0"/>
          </a:p>
        </p:txBody>
      </p:sp>
      <p:sp>
        <p:nvSpPr>
          <p:cNvPr id="7" name="arrow"/>
          <p:cNvSpPr/>
          <p:nvPr/>
        </p:nvSpPr>
        <p:spPr>
          <a:xfrm>
            <a:off x="1874520" y="2057400"/>
            <a:ext cx="274320" cy="0"/>
          </a:xfrm>
          <a:prstGeom prst="line">
            <a:avLst/>
          </a:prstGeom>
          <a:noFill/>
          <a:ln w="25400">
            <a:solidFill>
              <a:schemeClr val="accent6"/>
            </a:solidFill>
            <a:prstDash val="solid"/>
            <a:tailEnd type="triangle"/>
          </a:ln>
        </p:spPr>
      </p:sp>
      <p:sp>
        <p:nvSpPr>
          <p:cNvPr id="8" name="Web Interface box"/>
          <p:cNvSpPr/>
          <p:nvPr/>
        </p:nvSpPr>
        <p:spPr>
          <a:xfrm>
            <a:off x="2148840" y="1371600"/>
            <a:ext cx="1417320" cy="1371600"/>
          </a:xfrm>
          <a:prstGeom prst="roundRect">
            <a:avLst>
              <a:gd name="adj" fmla="val 8000"/>
            </a:avLst>
          </a:prstGeom>
          <a:solidFill>
            <a:schemeClr val="accent1"/>
          </a:solidFill>
          <a:ln/>
        </p:spPr>
      </p:sp>
      <p:pic>
        <p:nvPicPr>
          <p:cNvPr id="9" name="Image 1" descr="Web Interface">    </p:cNvPr>
          <p:cNvPicPr>
            <a:picLocks noChangeAspect="1"/>
          </p:cNvPicPr>
          <p:nvPr/>
        </p:nvPicPr>
        <p:blipFill>
          <a:blip r:embed="rId2"/>
          <a:stretch>
            <a:fillRect/>
          </a:stretch>
        </p:blipFill>
        <p:spPr>
          <a:xfrm>
            <a:off x="2286000" y="1508760"/>
            <a:ext cx="411480" cy="411480"/>
          </a:xfrm>
          <a:prstGeom prst="rect">
            <a:avLst/>
          </a:prstGeom>
        </p:spPr>
      </p:pic>
      <p:sp>
        <p:nvSpPr>
          <p:cNvPr id="10" name="Text 6"/>
          <p:cNvSpPr txBox="1"/>
          <p:nvPr/>
        </p:nvSpPr>
        <p:spPr>
          <a:xfrm>
            <a:off x="2286000" y="2103120"/>
            <a:ext cx="1143000" cy="548640"/>
          </a:xfrm>
          <a:prstGeom prst="rect">
            <a:avLst/>
          </a:prstGeom>
          <a:noFill/>
          <a:ln/>
        </p:spPr>
        <p:txBody>
          <a:bodyPr wrap="square" lIns="0" tIns="0" rIns="0" bIns="0" rtlCol="0" anchor="t"/>
          <a:lstStyle/>
          <a:p>
            <a:pPr indent="0" marL="0">
              <a:buNone/>
            </a:pPr>
            <a:r>
              <a:rPr lang="en-US" sz="1500" b="1" dirty="0">
                <a:solidFill>
                  <a:schemeClr val="bg1"/>
                </a:solidFill>
              </a:rPr>
              <a:t>Web Interface</a:t>
            </a:r>
            <a:endParaRPr lang="en-US" sz="1500" dirty="0"/>
          </a:p>
        </p:txBody>
      </p:sp>
      <p:sp>
        <p:nvSpPr>
          <p:cNvPr id="11" name="arrow"/>
          <p:cNvSpPr/>
          <p:nvPr/>
        </p:nvSpPr>
        <p:spPr>
          <a:xfrm>
            <a:off x="3566160" y="2057400"/>
            <a:ext cx="274320" cy="0"/>
          </a:xfrm>
          <a:prstGeom prst="line">
            <a:avLst/>
          </a:prstGeom>
          <a:noFill/>
          <a:ln w="25400">
            <a:solidFill>
              <a:schemeClr val="accent6"/>
            </a:solidFill>
            <a:prstDash val="solid"/>
            <a:tailEnd type="triangle"/>
          </a:ln>
        </p:spPr>
      </p:sp>
      <p:sp>
        <p:nvSpPr>
          <p:cNvPr id="12" name="JavaScript Logic box"/>
          <p:cNvSpPr/>
          <p:nvPr/>
        </p:nvSpPr>
        <p:spPr>
          <a:xfrm>
            <a:off x="3840480" y="1371600"/>
            <a:ext cx="1417320" cy="1371600"/>
          </a:xfrm>
          <a:prstGeom prst="roundRect">
            <a:avLst>
              <a:gd name="adj" fmla="val 8000"/>
            </a:avLst>
          </a:prstGeom>
          <a:solidFill>
            <a:schemeClr val="tx2"/>
          </a:solidFill>
          <a:ln/>
        </p:spPr>
      </p:sp>
      <p:pic>
        <p:nvPicPr>
          <p:cNvPr id="13" name="Image 2" descr="JavaScript Logic">    </p:cNvPr>
          <p:cNvPicPr>
            <a:picLocks noChangeAspect="1"/>
          </p:cNvPicPr>
          <p:nvPr/>
        </p:nvPicPr>
        <p:blipFill>
          <a:blip r:embed="rId3"/>
          <a:stretch>
            <a:fillRect/>
          </a:stretch>
        </p:blipFill>
        <p:spPr>
          <a:xfrm>
            <a:off x="3977640" y="1508760"/>
            <a:ext cx="411480" cy="411480"/>
          </a:xfrm>
          <a:prstGeom prst="rect">
            <a:avLst/>
          </a:prstGeom>
        </p:spPr>
      </p:pic>
      <p:sp>
        <p:nvSpPr>
          <p:cNvPr id="14" name="Text 9"/>
          <p:cNvSpPr txBox="1"/>
          <p:nvPr/>
        </p:nvSpPr>
        <p:spPr>
          <a:xfrm>
            <a:off x="3977640" y="2103120"/>
            <a:ext cx="1143000" cy="548640"/>
          </a:xfrm>
          <a:prstGeom prst="rect">
            <a:avLst/>
          </a:prstGeom>
          <a:noFill/>
          <a:ln/>
        </p:spPr>
        <p:txBody>
          <a:bodyPr wrap="square" lIns="0" tIns="0" rIns="0" bIns="0" rtlCol="0" anchor="t"/>
          <a:lstStyle/>
          <a:p>
            <a:pPr indent="0" marL="0">
              <a:buNone/>
            </a:pPr>
            <a:r>
              <a:rPr lang="en-US" sz="1500" b="1" dirty="0">
                <a:solidFill>
                  <a:schemeClr val="bg1"/>
                </a:solidFill>
              </a:rPr>
              <a:t>JavaScript Logic</a:t>
            </a:r>
            <a:endParaRPr lang="en-US" sz="1500" dirty="0"/>
          </a:p>
        </p:txBody>
      </p:sp>
      <p:sp>
        <p:nvSpPr>
          <p:cNvPr id="15" name="arrow"/>
          <p:cNvSpPr/>
          <p:nvPr/>
        </p:nvSpPr>
        <p:spPr>
          <a:xfrm>
            <a:off x="5257800" y="2057400"/>
            <a:ext cx="274320" cy="0"/>
          </a:xfrm>
          <a:prstGeom prst="line">
            <a:avLst/>
          </a:prstGeom>
          <a:noFill/>
          <a:ln w="25400">
            <a:solidFill>
              <a:schemeClr val="accent6"/>
            </a:solidFill>
            <a:prstDash val="solid"/>
            <a:tailEnd type="triangle"/>
          </a:ln>
        </p:spPr>
      </p:sp>
      <p:sp>
        <p:nvSpPr>
          <p:cNvPr id="16" name="Chatbot and App Features box"/>
          <p:cNvSpPr/>
          <p:nvPr/>
        </p:nvSpPr>
        <p:spPr>
          <a:xfrm>
            <a:off x="5532120" y="1371600"/>
            <a:ext cx="1417320" cy="1371600"/>
          </a:xfrm>
          <a:prstGeom prst="roundRect">
            <a:avLst>
              <a:gd name="adj" fmla="val 8000"/>
            </a:avLst>
          </a:prstGeom>
          <a:solidFill>
            <a:schemeClr val="accent1"/>
          </a:solidFill>
          <a:ln/>
        </p:spPr>
      </p:sp>
      <p:pic>
        <p:nvPicPr>
          <p:cNvPr id="17" name="Image 3" descr="Chatbot and App Features">    </p:cNvPr>
          <p:cNvPicPr>
            <a:picLocks noChangeAspect="1"/>
          </p:cNvPicPr>
          <p:nvPr/>
        </p:nvPicPr>
        <p:blipFill>
          <a:blip r:embed="rId4"/>
          <a:stretch>
            <a:fillRect/>
          </a:stretch>
        </p:blipFill>
        <p:spPr>
          <a:xfrm>
            <a:off x="5669280" y="1508760"/>
            <a:ext cx="411480" cy="411480"/>
          </a:xfrm>
          <a:prstGeom prst="rect">
            <a:avLst/>
          </a:prstGeom>
        </p:spPr>
      </p:pic>
      <p:sp>
        <p:nvSpPr>
          <p:cNvPr id="18" name="Text 12"/>
          <p:cNvSpPr txBox="1"/>
          <p:nvPr/>
        </p:nvSpPr>
        <p:spPr>
          <a:xfrm>
            <a:off x="5669280" y="2103120"/>
            <a:ext cx="1143000" cy="548640"/>
          </a:xfrm>
          <a:prstGeom prst="rect">
            <a:avLst/>
          </a:prstGeom>
          <a:noFill/>
          <a:ln/>
        </p:spPr>
        <p:txBody>
          <a:bodyPr wrap="square" lIns="0" tIns="0" rIns="0" bIns="0" rtlCol="0" anchor="t"/>
          <a:lstStyle/>
          <a:p>
            <a:pPr indent="0" marL="0">
              <a:buNone/>
            </a:pPr>
            <a:r>
              <a:rPr lang="en-US" sz="1500" b="1" dirty="0">
                <a:solidFill>
                  <a:schemeClr val="bg1"/>
                </a:solidFill>
              </a:rPr>
              <a:t>Chatbot and App Features</a:t>
            </a:r>
            <a:endParaRPr lang="en-US" sz="1500" dirty="0"/>
          </a:p>
        </p:txBody>
      </p:sp>
      <p:sp>
        <p:nvSpPr>
          <p:cNvPr id="19" name="arrow"/>
          <p:cNvSpPr/>
          <p:nvPr/>
        </p:nvSpPr>
        <p:spPr>
          <a:xfrm>
            <a:off x="6949440" y="2057400"/>
            <a:ext cx="274320" cy="0"/>
          </a:xfrm>
          <a:prstGeom prst="line">
            <a:avLst/>
          </a:prstGeom>
          <a:noFill/>
          <a:ln w="25400">
            <a:solidFill>
              <a:schemeClr val="accent6"/>
            </a:solidFill>
            <a:prstDash val="solid"/>
            <a:tailEnd type="triangle"/>
          </a:ln>
        </p:spPr>
      </p:sp>
      <p:sp>
        <p:nvSpPr>
          <p:cNvPr id="20" name="firebase box"/>
          <p:cNvSpPr/>
          <p:nvPr/>
        </p:nvSpPr>
        <p:spPr>
          <a:xfrm>
            <a:off x="7223760" y="1371600"/>
            <a:ext cx="1463040" cy="621792"/>
          </a:xfrm>
          <a:prstGeom prst="roundRect">
            <a:avLst>
              <a:gd name="adj" fmla="val 17647"/>
            </a:avLst>
          </a:prstGeom>
          <a:solidFill>
            <a:schemeClr val="accent3"/>
          </a:solidFill>
          <a:ln/>
        </p:spPr>
      </p:sp>
      <p:sp>
        <p:nvSpPr>
          <p:cNvPr id="21" name="Text 15"/>
          <p:cNvSpPr txBox="1"/>
          <p:nvPr/>
        </p:nvSpPr>
        <p:spPr>
          <a:xfrm>
            <a:off x="7223760" y="1371600"/>
            <a:ext cx="1463040" cy="621792"/>
          </a:xfrm>
          <a:prstGeom prst="rect">
            <a:avLst/>
          </a:prstGeom>
          <a:noFill/>
          <a:ln/>
        </p:spPr>
        <p:txBody>
          <a:bodyPr wrap="square" lIns="0" tIns="0" rIns="0" bIns="0" rtlCol="0" anchor="ctr"/>
          <a:lstStyle/>
          <a:p>
            <a:pPr algn="ctr" indent="0" marL="0">
              <a:buNone/>
            </a:pPr>
            <a:r>
              <a:rPr lang="en-US" sz="1400" b="1" dirty="0">
                <a:solidFill>
                  <a:schemeClr val="tx1"/>
                </a:solidFill>
              </a:rPr>
              <a:t>Firebase</a:t>
            </a:r>
            <a:endParaRPr lang="en-US" sz="1400" dirty="0"/>
          </a:p>
        </p:txBody>
      </p:sp>
      <p:sp>
        <p:nvSpPr>
          <p:cNvPr id="22" name="localstorage box"/>
          <p:cNvSpPr/>
          <p:nvPr/>
        </p:nvSpPr>
        <p:spPr>
          <a:xfrm>
            <a:off x="7223760" y="2121408"/>
            <a:ext cx="1463040" cy="621792"/>
          </a:xfrm>
          <a:prstGeom prst="roundRect">
            <a:avLst>
              <a:gd name="adj" fmla="val 17647"/>
            </a:avLst>
          </a:prstGeom>
          <a:solidFill>
            <a:schemeClr val="accent4"/>
          </a:solidFill>
          <a:ln/>
        </p:spPr>
      </p:sp>
      <p:sp>
        <p:nvSpPr>
          <p:cNvPr id="23" name="Text 17"/>
          <p:cNvSpPr txBox="1"/>
          <p:nvPr/>
        </p:nvSpPr>
        <p:spPr>
          <a:xfrm>
            <a:off x="7223760" y="2121408"/>
            <a:ext cx="1463040" cy="621792"/>
          </a:xfrm>
          <a:prstGeom prst="rect">
            <a:avLst/>
          </a:prstGeom>
          <a:noFill/>
          <a:ln/>
        </p:spPr>
        <p:txBody>
          <a:bodyPr wrap="square" lIns="0" tIns="0" rIns="0" bIns="0" rtlCol="0" anchor="ctr"/>
          <a:lstStyle/>
          <a:p>
            <a:pPr algn="ctr" indent="0" marL="0">
              <a:buNone/>
            </a:pPr>
            <a:r>
              <a:rPr lang="en-US" sz="1400" b="1" dirty="0">
                <a:solidFill>
                  <a:schemeClr val="tx1"/>
                </a:solidFill>
              </a:rPr>
              <a:t>LocalStorage</a:t>
            </a:r>
            <a:endParaRPr lang="en-US" sz="1400" dirty="0"/>
          </a:p>
        </p:txBody>
      </p:sp>
      <p:sp>
        <p:nvSpPr>
          <p:cNvPr id="24" name="Text 18"/>
          <p:cNvSpPr txBox="1"/>
          <p:nvPr/>
        </p:nvSpPr>
        <p:spPr>
          <a:xfrm>
            <a:off x="457200" y="3108960"/>
            <a:ext cx="3657600" cy="228600"/>
          </a:xfrm>
          <a:prstGeom prst="rect">
            <a:avLst/>
          </a:prstGeom>
          <a:noFill/>
          <a:ln/>
        </p:spPr>
        <p:txBody>
          <a:bodyPr wrap="square" lIns="0" tIns="0" rIns="0" bIns="0" rtlCol="0" anchor="t"/>
          <a:lstStyle/>
          <a:p>
            <a:pPr indent="0" marL="0">
              <a:buNone/>
            </a:pPr>
            <a:r>
              <a:rPr lang="en-US" sz="1200" b="1" dirty="0">
                <a:solidFill>
                  <a:schemeClr val="accent1"/>
                </a:solidFill>
              </a:rPr>
              <a:t>WORKFLOW</a:t>
            </a:r>
            <a:endParaRPr lang="en-US" sz="1200" dirty="0"/>
          </a:p>
        </p:txBody>
      </p:sp>
      <p:sp>
        <p:nvSpPr>
          <p:cNvPr id="25" name="step 1"/>
          <p:cNvSpPr/>
          <p:nvPr/>
        </p:nvSpPr>
        <p:spPr>
          <a:xfrm>
            <a:off x="457200" y="3429000"/>
            <a:ext cx="411480" cy="411480"/>
          </a:xfrm>
          <a:prstGeom prst="ellipse">
            <a:avLst/>
          </a:prstGeom>
          <a:solidFill>
            <a:schemeClr val="accent1"/>
          </a:solidFill>
          <a:ln/>
        </p:spPr>
      </p:sp>
      <p:sp>
        <p:nvSpPr>
          <p:cNvPr id="26" name="Text 20"/>
          <p:cNvSpPr txBox="1"/>
          <p:nvPr/>
        </p:nvSpPr>
        <p:spPr>
          <a:xfrm>
            <a:off x="457200" y="3429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7" name="step line"/>
          <p:cNvSpPr/>
          <p:nvPr/>
        </p:nvSpPr>
        <p:spPr>
          <a:xfrm>
            <a:off x="914400" y="3634740"/>
            <a:ext cx="896112" cy="0"/>
          </a:xfrm>
          <a:prstGeom prst="line">
            <a:avLst/>
          </a:prstGeom>
          <a:noFill/>
          <a:ln w="25400">
            <a:solidFill>
              <a:schemeClr val="accent3"/>
            </a:solidFill>
            <a:prstDash val="solid"/>
          </a:ln>
        </p:spPr>
      </p:sp>
      <p:sp>
        <p:nvSpPr>
          <p:cNvPr id="28" name="Text 22"/>
          <p:cNvSpPr txBox="1"/>
          <p:nvPr/>
        </p:nvSpPr>
        <p:spPr>
          <a:xfrm>
            <a:off x="457200" y="3977640"/>
            <a:ext cx="1280160" cy="640080"/>
          </a:xfrm>
          <a:prstGeom prst="rect">
            <a:avLst/>
          </a:prstGeom>
          <a:noFill/>
          <a:ln/>
        </p:spPr>
        <p:txBody>
          <a:bodyPr wrap="square" lIns="0" tIns="0" rIns="0" bIns="0" rtlCol="0" anchor="t"/>
          <a:lstStyle/>
          <a:p>
            <a:pPr indent="0" marL="0">
              <a:buNone/>
            </a:pPr>
            <a:r>
              <a:rPr lang="en-US" sz="1400" b="1" dirty="0">
                <a:solidFill>
                  <a:schemeClr val="tx2"/>
                </a:solidFill>
              </a:rPr>
              <a:t>Registration / Login</a:t>
            </a:r>
            <a:endParaRPr lang="en-US" sz="1400" dirty="0"/>
          </a:p>
        </p:txBody>
      </p:sp>
      <p:sp>
        <p:nvSpPr>
          <p:cNvPr id="29" name="step 2"/>
          <p:cNvSpPr/>
          <p:nvPr/>
        </p:nvSpPr>
        <p:spPr>
          <a:xfrm>
            <a:off x="1856232" y="3429000"/>
            <a:ext cx="411480" cy="411480"/>
          </a:xfrm>
          <a:prstGeom prst="ellipse">
            <a:avLst/>
          </a:prstGeom>
          <a:solidFill>
            <a:schemeClr val="accent1"/>
          </a:solidFill>
          <a:ln/>
        </p:spPr>
      </p:sp>
      <p:sp>
        <p:nvSpPr>
          <p:cNvPr id="30" name="Text 24"/>
          <p:cNvSpPr txBox="1"/>
          <p:nvPr/>
        </p:nvSpPr>
        <p:spPr>
          <a:xfrm>
            <a:off x="1856232" y="3429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1" name="step line"/>
          <p:cNvSpPr/>
          <p:nvPr/>
        </p:nvSpPr>
        <p:spPr>
          <a:xfrm>
            <a:off x="2313432" y="3634740"/>
            <a:ext cx="896112" cy="0"/>
          </a:xfrm>
          <a:prstGeom prst="line">
            <a:avLst/>
          </a:prstGeom>
          <a:noFill/>
          <a:ln w="25400">
            <a:solidFill>
              <a:schemeClr val="accent3"/>
            </a:solidFill>
            <a:prstDash val="solid"/>
          </a:ln>
        </p:spPr>
      </p:sp>
      <p:sp>
        <p:nvSpPr>
          <p:cNvPr id="32" name="Text 26"/>
          <p:cNvSpPr txBox="1"/>
          <p:nvPr/>
        </p:nvSpPr>
        <p:spPr>
          <a:xfrm>
            <a:off x="1856232" y="3977640"/>
            <a:ext cx="1280160" cy="640080"/>
          </a:xfrm>
          <a:prstGeom prst="rect">
            <a:avLst/>
          </a:prstGeom>
          <a:noFill/>
          <a:ln/>
        </p:spPr>
        <p:txBody>
          <a:bodyPr wrap="square" lIns="0" tIns="0" rIns="0" bIns="0" rtlCol="0" anchor="t"/>
          <a:lstStyle/>
          <a:p>
            <a:pPr indent="0" marL="0">
              <a:buNone/>
            </a:pPr>
            <a:r>
              <a:rPr lang="en-US" sz="1400" b="1" dirty="0">
                <a:solidFill>
                  <a:schemeClr val="tx2"/>
                </a:solidFill>
              </a:rPr>
              <a:t>Dashboard</a:t>
            </a:r>
            <a:endParaRPr lang="en-US" sz="1400" dirty="0"/>
          </a:p>
        </p:txBody>
      </p:sp>
      <p:sp>
        <p:nvSpPr>
          <p:cNvPr id="33" name="step 3"/>
          <p:cNvSpPr/>
          <p:nvPr/>
        </p:nvSpPr>
        <p:spPr>
          <a:xfrm>
            <a:off x="3255264" y="3429000"/>
            <a:ext cx="411480" cy="411480"/>
          </a:xfrm>
          <a:prstGeom prst="ellipse">
            <a:avLst/>
          </a:prstGeom>
          <a:solidFill>
            <a:schemeClr val="accent1"/>
          </a:solidFill>
          <a:ln/>
        </p:spPr>
      </p:sp>
      <p:sp>
        <p:nvSpPr>
          <p:cNvPr id="34" name="Text 28"/>
          <p:cNvSpPr txBox="1"/>
          <p:nvPr/>
        </p:nvSpPr>
        <p:spPr>
          <a:xfrm>
            <a:off x="3255264" y="3429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5" name="step line"/>
          <p:cNvSpPr/>
          <p:nvPr/>
        </p:nvSpPr>
        <p:spPr>
          <a:xfrm>
            <a:off x="3712464" y="3634740"/>
            <a:ext cx="896112" cy="0"/>
          </a:xfrm>
          <a:prstGeom prst="line">
            <a:avLst/>
          </a:prstGeom>
          <a:noFill/>
          <a:ln w="25400">
            <a:solidFill>
              <a:schemeClr val="accent3"/>
            </a:solidFill>
            <a:prstDash val="solid"/>
          </a:ln>
        </p:spPr>
      </p:sp>
      <p:sp>
        <p:nvSpPr>
          <p:cNvPr id="36" name="Text 30"/>
          <p:cNvSpPr txBox="1"/>
          <p:nvPr/>
        </p:nvSpPr>
        <p:spPr>
          <a:xfrm>
            <a:off x="3255264" y="3977640"/>
            <a:ext cx="1280160" cy="640080"/>
          </a:xfrm>
          <a:prstGeom prst="rect">
            <a:avLst/>
          </a:prstGeom>
          <a:noFill/>
          <a:ln/>
        </p:spPr>
        <p:txBody>
          <a:bodyPr wrap="square" lIns="0" tIns="0" rIns="0" bIns="0" rtlCol="0" anchor="t"/>
          <a:lstStyle/>
          <a:p>
            <a:pPr indent="0" marL="0">
              <a:buNone/>
            </a:pPr>
            <a:r>
              <a:rPr lang="en-US" sz="1400" b="1" dirty="0">
                <a:solidFill>
                  <a:schemeClr val="tx2"/>
                </a:solidFill>
              </a:rPr>
              <a:t>Select Feature</a:t>
            </a:r>
            <a:endParaRPr lang="en-US" sz="1400" dirty="0"/>
          </a:p>
        </p:txBody>
      </p:sp>
      <p:sp>
        <p:nvSpPr>
          <p:cNvPr id="37" name="step 4"/>
          <p:cNvSpPr/>
          <p:nvPr/>
        </p:nvSpPr>
        <p:spPr>
          <a:xfrm>
            <a:off x="4654296" y="3429000"/>
            <a:ext cx="411480" cy="411480"/>
          </a:xfrm>
          <a:prstGeom prst="ellipse">
            <a:avLst/>
          </a:prstGeom>
          <a:solidFill>
            <a:schemeClr val="accent1"/>
          </a:solidFill>
          <a:ln/>
        </p:spPr>
      </p:sp>
      <p:sp>
        <p:nvSpPr>
          <p:cNvPr id="38" name="Text 32"/>
          <p:cNvSpPr txBox="1"/>
          <p:nvPr/>
        </p:nvSpPr>
        <p:spPr>
          <a:xfrm>
            <a:off x="4654296" y="3429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9" name="step line"/>
          <p:cNvSpPr/>
          <p:nvPr/>
        </p:nvSpPr>
        <p:spPr>
          <a:xfrm>
            <a:off x="5111496" y="3634740"/>
            <a:ext cx="896112" cy="0"/>
          </a:xfrm>
          <a:prstGeom prst="line">
            <a:avLst/>
          </a:prstGeom>
          <a:noFill/>
          <a:ln w="25400">
            <a:solidFill>
              <a:schemeClr val="accent3"/>
            </a:solidFill>
            <a:prstDash val="solid"/>
          </a:ln>
        </p:spPr>
      </p:sp>
      <p:sp>
        <p:nvSpPr>
          <p:cNvPr id="40" name="Text 34"/>
          <p:cNvSpPr txBox="1"/>
          <p:nvPr/>
        </p:nvSpPr>
        <p:spPr>
          <a:xfrm>
            <a:off x="4654296" y="3977640"/>
            <a:ext cx="1280160" cy="640080"/>
          </a:xfrm>
          <a:prstGeom prst="rect">
            <a:avLst/>
          </a:prstGeom>
          <a:noFill/>
          <a:ln/>
        </p:spPr>
        <p:txBody>
          <a:bodyPr wrap="square" lIns="0" tIns="0" rIns="0" bIns="0" rtlCol="0" anchor="t"/>
          <a:lstStyle/>
          <a:p>
            <a:pPr indent="0" marL="0">
              <a:buNone/>
            </a:pPr>
            <a:r>
              <a:rPr lang="en-US" sz="1400" b="1" dirty="0">
                <a:solidFill>
                  <a:schemeClr val="tx2"/>
                </a:solidFill>
              </a:rPr>
              <a:t>Enter Input</a:t>
            </a:r>
            <a:endParaRPr lang="en-US" sz="1400" dirty="0"/>
          </a:p>
        </p:txBody>
      </p:sp>
      <p:sp>
        <p:nvSpPr>
          <p:cNvPr id="41" name="step 5"/>
          <p:cNvSpPr/>
          <p:nvPr/>
        </p:nvSpPr>
        <p:spPr>
          <a:xfrm>
            <a:off x="6053328" y="3429000"/>
            <a:ext cx="411480" cy="411480"/>
          </a:xfrm>
          <a:prstGeom prst="ellipse">
            <a:avLst/>
          </a:prstGeom>
          <a:solidFill>
            <a:schemeClr val="accent1"/>
          </a:solidFill>
          <a:ln/>
        </p:spPr>
      </p:sp>
      <p:sp>
        <p:nvSpPr>
          <p:cNvPr id="42" name="Text 36"/>
          <p:cNvSpPr txBox="1"/>
          <p:nvPr/>
        </p:nvSpPr>
        <p:spPr>
          <a:xfrm>
            <a:off x="6053328" y="3429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3" name="step line"/>
          <p:cNvSpPr/>
          <p:nvPr/>
        </p:nvSpPr>
        <p:spPr>
          <a:xfrm>
            <a:off x="6510528" y="3634740"/>
            <a:ext cx="896112" cy="0"/>
          </a:xfrm>
          <a:prstGeom prst="line">
            <a:avLst/>
          </a:prstGeom>
          <a:noFill/>
          <a:ln w="25400">
            <a:solidFill>
              <a:schemeClr val="accent3"/>
            </a:solidFill>
            <a:prstDash val="solid"/>
          </a:ln>
        </p:spPr>
      </p:sp>
      <p:sp>
        <p:nvSpPr>
          <p:cNvPr id="44" name="Text 38"/>
          <p:cNvSpPr txBox="1"/>
          <p:nvPr/>
        </p:nvSpPr>
        <p:spPr>
          <a:xfrm>
            <a:off x="6053328" y="3977640"/>
            <a:ext cx="1280160" cy="640080"/>
          </a:xfrm>
          <a:prstGeom prst="rect">
            <a:avLst/>
          </a:prstGeom>
          <a:noFill/>
          <a:ln/>
        </p:spPr>
        <p:txBody>
          <a:bodyPr wrap="square" lIns="0" tIns="0" rIns="0" bIns="0" rtlCol="0" anchor="t"/>
          <a:lstStyle/>
          <a:p>
            <a:pPr indent="0" marL="0">
              <a:buNone/>
            </a:pPr>
            <a:r>
              <a:rPr lang="en-US" sz="1400" b="1" dirty="0">
                <a:solidFill>
                  <a:schemeClr val="tx2"/>
                </a:solidFill>
              </a:rPr>
              <a:t>Process Data</a:t>
            </a:r>
            <a:endParaRPr lang="en-US" sz="1400" dirty="0"/>
          </a:p>
        </p:txBody>
      </p:sp>
      <p:sp>
        <p:nvSpPr>
          <p:cNvPr id="45" name="step 6"/>
          <p:cNvSpPr/>
          <p:nvPr/>
        </p:nvSpPr>
        <p:spPr>
          <a:xfrm>
            <a:off x="7452360" y="3429000"/>
            <a:ext cx="411480" cy="411480"/>
          </a:xfrm>
          <a:prstGeom prst="ellipse">
            <a:avLst/>
          </a:prstGeom>
          <a:solidFill>
            <a:schemeClr val="accent1"/>
          </a:solidFill>
          <a:ln/>
        </p:spPr>
      </p:sp>
      <p:sp>
        <p:nvSpPr>
          <p:cNvPr id="46" name="Text 40"/>
          <p:cNvSpPr txBox="1"/>
          <p:nvPr/>
        </p:nvSpPr>
        <p:spPr>
          <a:xfrm>
            <a:off x="7452360" y="3429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7" name="Text 41"/>
          <p:cNvSpPr txBox="1"/>
          <p:nvPr/>
        </p:nvSpPr>
        <p:spPr>
          <a:xfrm>
            <a:off x="7452360" y="3977640"/>
            <a:ext cx="1280160" cy="640080"/>
          </a:xfrm>
          <a:prstGeom prst="rect">
            <a:avLst/>
          </a:prstGeom>
          <a:noFill/>
          <a:ln/>
        </p:spPr>
        <p:txBody>
          <a:bodyPr wrap="square" lIns="0" tIns="0" rIns="0" bIns="0" rtlCol="0" anchor="t"/>
          <a:lstStyle/>
          <a:p>
            <a:pPr indent="0" marL="0">
              <a:buNone/>
            </a:pPr>
            <a:r>
              <a:rPr lang="en-US" sz="1400" b="1" dirty="0">
                <a:solidFill>
                  <a:schemeClr val="tx2"/>
                </a:solidFill>
              </a:rPr>
              <a:t>Response or Mood Insights</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Main Features</a:t>
            </a:r>
            <a:endParaRPr lang="en-US" sz="3200" dirty="0"/>
          </a:p>
        </p:txBody>
      </p:sp>
      <p:sp>
        <p:nvSpPr>
          <p:cNvPr id="3" name="Register and Login card"/>
          <p:cNvSpPr/>
          <p:nvPr/>
        </p:nvSpPr>
        <p:spPr>
          <a:xfrm>
            <a:off x="457200" y="1143000"/>
            <a:ext cx="1920240" cy="1645920"/>
          </a:xfrm>
          <a:prstGeom prst="roundRect">
            <a:avLst>
              <a:gd name="adj" fmla="val 6667"/>
            </a:avLst>
          </a:prstGeom>
          <a:solidFill>
            <a:schemeClr val="bg2"/>
          </a:solidFill>
          <a:ln/>
        </p:spPr>
      </p:sp>
      <p:sp>
        <p:nvSpPr>
          <p:cNvPr id="4" name="Register and Login circle"/>
          <p:cNvSpPr/>
          <p:nvPr/>
        </p:nvSpPr>
        <p:spPr>
          <a:xfrm>
            <a:off x="594360" y="1280160"/>
            <a:ext cx="502920" cy="502920"/>
          </a:xfrm>
          <a:prstGeom prst="ellipse">
            <a:avLst/>
          </a:prstGeom>
          <a:solidFill>
            <a:schemeClr val="accent1"/>
          </a:solidFill>
          <a:ln/>
        </p:spPr>
      </p:sp>
      <p:pic>
        <p:nvPicPr>
          <p:cNvPr id="5" name="Image 0" descr="Register and Login">    </p:cNvPr>
          <p:cNvPicPr>
            <a:picLocks noChangeAspect="1"/>
          </p:cNvPicPr>
          <p:nvPr/>
        </p:nvPicPr>
        <p:blipFill>
          <a:blip r:embed="rId1"/>
          <a:stretch>
            <a:fillRect/>
          </a:stretch>
        </p:blipFill>
        <p:spPr>
          <a:xfrm>
            <a:off x="720090" y="1405890"/>
            <a:ext cx="251460" cy="251460"/>
          </a:xfrm>
          <a:prstGeom prst="rect">
            <a:avLst/>
          </a:prstGeom>
        </p:spPr>
      </p:pic>
      <p:sp>
        <p:nvSpPr>
          <p:cNvPr id="6" name="Text 3"/>
          <p:cNvSpPr txBox="1"/>
          <p:nvPr/>
        </p:nvSpPr>
        <p:spPr>
          <a:xfrm>
            <a:off x="594360" y="1874520"/>
            <a:ext cx="1645920" cy="274320"/>
          </a:xfrm>
          <a:prstGeom prst="rect">
            <a:avLst/>
          </a:prstGeom>
          <a:noFill/>
          <a:ln/>
        </p:spPr>
        <p:txBody>
          <a:bodyPr wrap="square" lIns="0" tIns="0" rIns="0" bIns="0" rtlCol="0" anchor="t"/>
          <a:lstStyle/>
          <a:p>
            <a:pPr indent="0" marL="0">
              <a:buNone/>
            </a:pPr>
            <a:r>
              <a:rPr lang="en-US" sz="1400" b="1" dirty="0">
                <a:solidFill>
                  <a:schemeClr val="tx2"/>
                </a:solidFill>
              </a:rPr>
              <a:t>Register and Login</a:t>
            </a:r>
            <a:endParaRPr lang="en-US" sz="1400" dirty="0"/>
          </a:p>
        </p:txBody>
      </p:sp>
      <p:sp>
        <p:nvSpPr>
          <p:cNvPr id="7" name="Text 4"/>
          <p:cNvSpPr txBox="1"/>
          <p:nvPr/>
        </p:nvSpPr>
        <p:spPr>
          <a:xfrm>
            <a:off x="594360" y="2148840"/>
            <a:ext cx="1645920" cy="594360"/>
          </a:xfrm>
          <a:prstGeom prst="rect">
            <a:avLst/>
          </a:prstGeom>
          <a:noFill/>
          <a:ln/>
        </p:spPr>
        <p:txBody>
          <a:bodyPr wrap="square" lIns="0" tIns="0" rIns="0" bIns="0" rtlCol="0" anchor="t"/>
          <a:lstStyle/>
          <a:p>
            <a:pPr indent="0" marL="0">
              <a:buNone/>
            </a:pPr>
            <a:r>
              <a:rPr lang="en-US" sz="1300" dirty="0">
                <a:solidFill>
                  <a:schemeClr val="tx1"/>
                </a:solidFill>
              </a:rPr>
              <a:t>Secure Firebase authentication</a:t>
            </a:r>
            <a:endParaRPr lang="en-US" sz="1300" dirty="0"/>
          </a:p>
        </p:txBody>
      </p:sp>
      <p:sp>
        <p:nvSpPr>
          <p:cNvPr id="8" name="AI Chatbot card"/>
          <p:cNvSpPr/>
          <p:nvPr/>
        </p:nvSpPr>
        <p:spPr>
          <a:xfrm>
            <a:off x="2560320" y="1143000"/>
            <a:ext cx="1920240" cy="1645920"/>
          </a:xfrm>
          <a:prstGeom prst="roundRect">
            <a:avLst>
              <a:gd name="adj" fmla="val 6667"/>
            </a:avLst>
          </a:prstGeom>
          <a:solidFill>
            <a:schemeClr val="bg2"/>
          </a:solidFill>
          <a:ln/>
        </p:spPr>
      </p:sp>
      <p:sp>
        <p:nvSpPr>
          <p:cNvPr id="9" name="AI Chatbot circle"/>
          <p:cNvSpPr/>
          <p:nvPr/>
        </p:nvSpPr>
        <p:spPr>
          <a:xfrm>
            <a:off x="2697480" y="1280160"/>
            <a:ext cx="502920" cy="502920"/>
          </a:xfrm>
          <a:prstGeom prst="ellipse">
            <a:avLst/>
          </a:prstGeom>
          <a:solidFill>
            <a:schemeClr val="accent2"/>
          </a:solidFill>
          <a:ln/>
        </p:spPr>
      </p:sp>
      <p:pic>
        <p:nvPicPr>
          <p:cNvPr id="10" name="Image 1" descr="AI Chatbot">    </p:cNvPr>
          <p:cNvPicPr>
            <a:picLocks noChangeAspect="1"/>
          </p:cNvPicPr>
          <p:nvPr/>
        </p:nvPicPr>
        <p:blipFill>
          <a:blip r:embed="rId2"/>
          <a:stretch>
            <a:fillRect/>
          </a:stretch>
        </p:blipFill>
        <p:spPr>
          <a:xfrm>
            <a:off x="2823210" y="1405890"/>
            <a:ext cx="251460" cy="251460"/>
          </a:xfrm>
          <a:prstGeom prst="rect">
            <a:avLst/>
          </a:prstGeom>
        </p:spPr>
      </p:pic>
      <p:sp>
        <p:nvSpPr>
          <p:cNvPr id="11" name="Text 7"/>
          <p:cNvSpPr txBox="1"/>
          <p:nvPr/>
        </p:nvSpPr>
        <p:spPr>
          <a:xfrm>
            <a:off x="2697480" y="1874520"/>
            <a:ext cx="1645920" cy="274320"/>
          </a:xfrm>
          <a:prstGeom prst="rect">
            <a:avLst/>
          </a:prstGeom>
          <a:noFill/>
          <a:ln/>
        </p:spPr>
        <p:txBody>
          <a:bodyPr wrap="square" lIns="0" tIns="0" rIns="0" bIns="0" rtlCol="0" anchor="t"/>
          <a:lstStyle/>
          <a:p>
            <a:pPr indent="0" marL="0">
              <a:buNone/>
            </a:pPr>
            <a:r>
              <a:rPr lang="en-US" sz="1400" b="1" dirty="0">
                <a:solidFill>
                  <a:schemeClr val="tx2"/>
                </a:solidFill>
              </a:rPr>
              <a:t>AI Chatbot</a:t>
            </a:r>
            <a:endParaRPr lang="en-US" sz="1400" dirty="0"/>
          </a:p>
        </p:txBody>
      </p:sp>
      <p:sp>
        <p:nvSpPr>
          <p:cNvPr id="12" name="Text 8"/>
          <p:cNvSpPr txBox="1"/>
          <p:nvPr/>
        </p:nvSpPr>
        <p:spPr>
          <a:xfrm>
            <a:off x="2697480" y="2148840"/>
            <a:ext cx="1645920" cy="594360"/>
          </a:xfrm>
          <a:prstGeom prst="rect">
            <a:avLst/>
          </a:prstGeom>
          <a:noFill/>
          <a:ln/>
        </p:spPr>
        <p:txBody>
          <a:bodyPr wrap="square" lIns="0" tIns="0" rIns="0" bIns="0" rtlCol="0" anchor="t"/>
          <a:lstStyle/>
          <a:p>
            <a:pPr indent="0" marL="0">
              <a:buNone/>
            </a:pPr>
            <a:r>
              <a:rPr lang="en-US" sz="1300" dirty="0">
                <a:solidFill>
                  <a:schemeClr val="tx1"/>
                </a:solidFill>
              </a:rPr>
              <a:t>Interactive, supportive conversation</a:t>
            </a:r>
            <a:endParaRPr lang="en-US" sz="1300" dirty="0"/>
          </a:p>
        </p:txBody>
      </p:sp>
      <p:sp>
        <p:nvSpPr>
          <p:cNvPr id="13" name="Chat Management card"/>
          <p:cNvSpPr/>
          <p:nvPr/>
        </p:nvSpPr>
        <p:spPr>
          <a:xfrm>
            <a:off x="4663440" y="1143000"/>
            <a:ext cx="1920240" cy="1645920"/>
          </a:xfrm>
          <a:prstGeom prst="roundRect">
            <a:avLst>
              <a:gd name="adj" fmla="val 6667"/>
            </a:avLst>
          </a:prstGeom>
          <a:solidFill>
            <a:schemeClr val="bg2"/>
          </a:solidFill>
          <a:ln/>
        </p:spPr>
      </p:sp>
      <p:sp>
        <p:nvSpPr>
          <p:cNvPr id="14" name="Chat Management circle"/>
          <p:cNvSpPr/>
          <p:nvPr/>
        </p:nvSpPr>
        <p:spPr>
          <a:xfrm>
            <a:off x="4800600" y="1280160"/>
            <a:ext cx="502920" cy="502920"/>
          </a:xfrm>
          <a:prstGeom prst="ellipse">
            <a:avLst/>
          </a:prstGeom>
          <a:solidFill>
            <a:schemeClr val="accent1"/>
          </a:solidFill>
          <a:ln/>
        </p:spPr>
      </p:sp>
      <p:pic>
        <p:nvPicPr>
          <p:cNvPr id="15" name="Image 2" descr="Chat Management">    </p:cNvPr>
          <p:cNvPicPr>
            <a:picLocks noChangeAspect="1"/>
          </p:cNvPicPr>
          <p:nvPr/>
        </p:nvPicPr>
        <p:blipFill>
          <a:blip r:embed="rId3"/>
          <a:stretch>
            <a:fillRect/>
          </a:stretch>
        </p:blipFill>
        <p:spPr>
          <a:xfrm>
            <a:off x="4926330" y="1405890"/>
            <a:ext cx="251460" cy="251460"/>
          </a:xfrm>
          <a:prstGeom prst="rect">
            <a:avLst/>
          </a:prstGeom>
        </p:spPr>
      </p:pic>
      <p:sp>
        <p:nvSpPr>
          <p:cNvPr id="16" name="Text 11"/>
          <p:cNvSpPr txBox="1"/>
          <p:nvPr/>
        </p:nvSpPr>
        <p:spPr>
          <a:xfrm>
            <a:off x="4800600" y="1874520"/>
            <a:ext cx="1645920" cy="274320"/>
          </a:xfrm>
          <a:prstGeom prst="rect">
            <a:avLst/>
          </a:prstGeom>
          <a:noFill/>
          <a:ln/>
        </p:spPr>
        <p:txBody>
          <a:bodyPr wrap="square" lIns="0" tIns="0" rIns="0" bIns="0" rtlCol="0" anchor="t"/>
          <a:lstStyle/>
          <a:p>
            <a:pPr indent="0" marL="0">
              <a:buNone/>
            </a:pPr>
            <a:r>
              <a:rPr lang="en-US" sz="1400" b="1" dirty="0">
                <a:solidFill>
                  <a:schemeClr val="tx2"/>
                </a:solidFill>
              </a:rPr>
              <a:t>Chat Management</a:t>
            </a:r>
            <a:endParaRPr lang="en-US" sz="1400" dirty="0"/>
          </a:p>
        </p:txBody>
      </p:sp>
      <p:sp>
        <p:nvSpPr>
          <p:cNvPr id="17" name="Text 12"/>
          <p:cNvSpPr txBox="1"/>
          <p:nvPr/>
        </p:nvSpPr>
        <p:spPr>
          <a:xfrm>
            <a:off x="4800600" y="2148840"/>
            <a:ext cx="1645920" cy="594360"/>
          </a:xfrm>
          <a:prstGeom prst="rect">
            <a:avLst/>
          </a:prstGeom>
          <a:noFill/>
          <a:ln/>
        </p:spPr>
        <p:txBody>
          <a:bodyPr wrap="square" lIns="0" tIns="0" rIns="0" bIns="0" rtlCol="0" anchor="t"/>
          <a:lstStyle/>
          <a:p>
            <a:pPr indent="0" marL="0">
              <a:buNone/>
            </a:pPr>
            <a:r>
              <a:rPr lang="en-US" sz="1300" dirty="0">
                <a:solidFill>
                  <a:schemeClr val="tx1"/>
                </a:solidFill>
              </a:rPr>
              <a:t>Chat history, rename and delete</a:t>
            </a:r>
            <a:endParaRPr lang="en-US" sz="1300" dirty="0"/>
          </a:p>
        </p:txBody>
      </p:sp>
      <p:sp>
        <p:nvSpPr>
          <p:cNvPr id="18" name="Mood Tracking card"/>
          <p:cNvSpPr/>
          <p:nvPr/>
        </p:nvSpPr>
        <p:spPr>
          <a:xfrm>
            <a:off x="6766560" y="1143000"/>
            <a:ext cx="1920240" cy="1645920"/>
          </a:xfrm>
          <a:prstGeom prst="roundRect">
            <a:avLst>
              <a:gd name="adj" fmla="val 6667"/>
            </a:avLst>
          </a:prstGeom>
          <a:solidFill>
            <a:schemeClr val="bg2"/>
          </a:solidFill>
          <a:ln/>
        </p:spPr>
      </p:sp>
      <p:sp>
        <p:nvSpPr>
          <p:cNvPr id="19" name="Mood Tracking circle"/>
          <p:cNvSpPr/>
          <p:nvPr/>
        </p:nvSpPr>
        <p:spPr>
          <a:xfrm>
            <a:off x="6903720" y="1280160"/>
            <a:ext cx="502920" cy="502920"/>
          </a:xfrm>
          <a:prstGeom prst="ellipse">
            <a:avLst/>
          </a:prstGeom>
          <a:solidFill>
            <a:schemeClr val="accent2"/>
          </a:solidFill>
          <a:ln/>
        </p:spPr>
      </p:sp>
      <p:pic>
        <p:nvPicPr>
          <p:cNvPr id="20" name="Image 3" descr="Mood Tracking">    </p:cNvPr>
          <p:cNvPicPr>
            <a:picLocks noChangeAspect="1"/>
          </p:cNvPicPr>
          <p:nvPr/>
        </p:nvPicPr>
        <p:blipFill>
          <a:blip r:embed="rId4"/>
          <a:stretch>
            <a:fillRect/>
          </a:stretch>
        </p:blipFill>
        <p:spPr>
          <a:xfrm>
            <a:off x="7029450" y="1405890"/>
            <a:ext cx="251460" cy="251460"/>
          </a:xfrm>
          <a:prstGeom prst="rect">
            <a:avLst/>
          </a:prstGeom>
        </p:spPr>
      </p:pic>
      <p:sp>
        <p:nvSpPr>
          <p:cNvPr id="21" name="Text 15"/>
          <p:cNvSpPr txBox="1"/>
          <p:nvPr/>
        </p:nvSpPr>
        <p:spPr>
          <a:xfrm>
            <a:off x="6903720" y="1874520"/>
            <a:ext cx="1645920" cy="274320"/>
          </a:xfrm>
          <a:prstGeom prst="rect">
            <a:avLst/>
          </a:prstGeom>
          <a:noFill/>
          <a:ln/>
        </p:spPr>
        <p:txBody>
          <a:bodyPr wrap="square" lIns="0" tIns="0" rIns="0" bIns="0" rtlCol="0" anchor="t"/>
          <a:lstStyle/>
          <a:p>
            <a:pPr indent="0" marL="0">
              <a:buNone/>
            </a:pPr>
            <a:r>
              <a:rPr lang="en-US" sz="1400" b="1" dirty="0">
                <a:solidFill>
                  <a:schemeClr val="tx2"/>
                </a:solidFill>
              </a:rPr>
              <a:t>Mood Tracking</a:t>
            </a:r>
            <a:endParaRPr lang="en-US" sz="1400" dirty="0"/>
          </a:p>
        </p:txBody>
      </p:sp>
      <p:sp>
        <p:nvSpPr>
          <p:cNvPr id="22" name="Text 16"/>
          <p:cNvSpPr txBox="1"/>
          <p:nvPr/>
        </p:nvSpPr>
        <p:spPr>
          <a:xfrm>
            <a:off x="6903720" y="2148840"/>
            <a:ext cx="1645920" cy="594360"/>
          </a:xfrm>
          <a:prstGeom prst="rect">
            <a:avLst/>
          </a:prstGeom>
          <a:noFill/>
          <a:ln/>
        </p:spPr>
        <p:txBody>
          <a:bodyPr wrap="square" lIns="0" tIns="0" rIns="0" bIns="0" rtlCol="0" anchor="t"/>
          <a:lstStyle/>
          <a:p>
            <a:pPr indent="0" marL="0">
              <a:buNone/>
            </a:pPr>
            <a:r>
              <a:rPr lang="en-US" sz="1300" dirty="0">
                <a:solidFill>
                  <a:schemeClr val="tx1"/>
                </a:solidFill>
              </a:rPr>
              <a:t>Log moods and view patterns</a:t>
            </a:r>
            <a:endParaRPr lang="en-US" sz="1300" dirty="0"/>
          </a:p>
        </p:txBody>
      </p:sp>
      <p:sp>
        <p:nvSpPr>
          <p:cNvPr id="23" name="Personalised Dashboard card"/>
          <p:cNvSpPr/>
          <p:nvPr/>
        </p:nvSpPr>
        <p:spPr>
          <a:xfrm>
            <a:off x="457200" y="2926080"/>
            <a:ext cx="2651760" cy="1508760"/>
          </a:xfrm>
          <a:prstGeom prst="roundRect">
            <a:avLst>
              <a:gd name="adj" fmla="val 7273"/>
            </a:avLst>
          </a:prstGeom>
          <a:solidFill>
            <a:schemeClr val="bg2"/>
          </a:solidFill>
          <a:ln/>
        </p:spPr>
      </p:sp>
      <p:sp>
        <p:nvSpPr>
          <p:cNvPr id="24" name="Personalised Dashboard circle"/>
          <p:cNvSpPr/>
          <p:nvPr/>
        </p:nvSpPr>
        <p:spPr>
          <a:xfrm>
            <a:off x="594360" y="3063240"/>
            <a:ext cx="502920" cy="502920"/>
          </a:xfrm>
          <a:prstGeom prst="ellipse">
            <a:avLst/>
          </a:prstGeom>
          <a:solidFill>
            <a:schemeClr val="accent1"/>
          </a:solidFill>
          <a:ln/>
        </p:spPr>
      </p:sp>
      <p:pic>
        <p:nvPicPr>
          <p:cNvPr id="25" name="Image 4" descr="Personalised Dashboard">    </p:cNvPr>
          <p:cNvPicPr>
            <a:picLocks noChangeAspect="1"/>
          </p:cNvPicPr>
          <p:nvPr/>
        </p:nvPicPr>
        <p:blipFill>
          <a:blip r:embed="rId5"/>
          <a:stretch>
            <a:fillRect/>
          </a:stretch>
        </p:blipFill>
        <p:spPr>
          <a:xfrm>
            <a:off x="720090" y="3188970"/>
            <a:ext cx="251460" cy="251460"/>
          </a:xfrm>
          <a:prstGeom prst="rect">
            <a:avLst/>
          </a:prstGeom>
        </p:spPr>
      </p:pic>
      <p:sp>
        <p:nvSpPr>
          <p:cNvPr id="26" name="Text 19"/>
          <p:cNvSpPr txBox="1"/>
          <p:nvPr/>
        </p:nvSpPr>
        <p:spPr>
          <a:xfrm>
            <a:off x="594360" y="3657600"/>
            <a:ext cx="2377440" cy="274320"/>
          </a:xfrm>
          <a:prstGeom prst="rect">
            <a:avLst/>
          </a:prstGeom>
          <a:noFill/>
          <a:ln/>
        </p:spPr>
        <p:txBody>
          <a:bodyPr wrap="square" lIns="0" tIns="0" rIns="0" bIns="0" rtlCol="0" anchor="t"/>
          <a:lstStyle/>
          <a:p>
            <a:pPr indent="0" marL="0">
              <a:buNone/>
            </a:pPr>
            <a:r>
              <a:rPr lang="en-US" sz="1400" b="1" dirty="0">
                <a:solidFill>
                  <a:schemeClr val="tx2"/>
                </a:solidFill>
              </a:rPr>
              <a:t>Personalised Dashboard</a:t>
            </a:r>
            <a:endParaRPr lang="en-US" sz="1400" dirty="0"/>
          </a:p>
        </p:txBody>
      </p:sp>
      <p:sp>
        <p:nvSpPr>
          <p:cNvPr id="27" name="Text 20"/>
          <p:cNvSpPr txBox="1"/>
          <p:nvPr/>
        </p:nvSpPr>
        <p:spPr>
          <a:xfrm>
            <a:off x="594360" y="3931920"/>
            <a:ext cx="2377440" cy="457200"/>
          </a:xfrm>
          <a:prstGeom prst="rect">
            <a:avLst/>
          </a:prstGeom>
          <a:noFill/>
          <a:ln/>
        </p:spPr>
        <p:txBody>
          <a:bodyPr wrap="square" lIns="0" tIns="0" rIns="0" bIns="0" rtlCol="0" anchor="t"/>
          <a:lstStyle/>
          <a:p>
            <a:pPr indent="0" marL="0">
              <a:buNone/>
            </a:pPr>
            <a:r>
              <a:rPr lang="en-US" sz="1300" dirty="0">
                <a:solidFill>
                  <a:schemeClr val="tx1"/>
                </a:solidFill>
              </a:rPr>
              <a:t>Insights and quick access to features</a:t>
            </a:r>
            <a:endParaRPr lang="en-US" sz="1300" dirty="0"/>
          </a:p>
        </p:txBody>
      </p:sp>
      <p:sp>
        <p:nvSpPr>
          <p:cNvPr id="28" name="Profile and Dark Mode card"/>
          <p:cNvSpPr/>
          <p:nvPr/>
        </p:nvSpPr>
        <p:spPr>
          <a:xfrm>
            <a:off x="3246120" y="2926080"/>
            <a:ext cx="2651760" cy="1508760"/>
          </a:xfrm>
          <a:prstGeom prst="roundRect">
            <a:avLst>
              <a:gd name="adj" fmla="val 7273"/>
            </a:avLst>
          </a:prstGeom>
          <a:solidFill>
            <a:schemeClr val="bg2"/>
          </a:solidFill>
          <a:ln/>
        </p:spPr>
      </p:sp>
      <p:sp>
        <p:nvSpPr>
          <p:cNvPr id="29" name="Profile and Dark Mode circle"/>
          <p:cNvSpPr/>
          <p:nvPr/>
        </p:nvSpPr>
        <p:spPr>
          <a:xfrm>
            <a:off x="3383280" y="3063240"/>
            <a:ext cx="502920" cy="502920"/>
          </a:xfrm>
          <a:prstGeom prst="ellipse">
            <a:avLst/>
          </a:prstGeom>
          <a:solidFill>
            <a:schemeClr val="accent2"/>
          </a:solidFill>
          <a:ln/>
        </p:spPr>
      </p:sp>
      <p:pic>
        <p:nvPicPr>
          <p:cNvPr id="30" name="Image 5" descr="Profile and Dark Mode">    </p:cNvPr>
          <p:cNvPicPr>
            <a:picLocks noChangeAspect="1"/>
          </p:cNvPicPr>
          <p:nvPr/>
        </p:nvPicPr>
        <p:blipFill>
          <a:blip r:embed="rId6"/>
          <a:stretch>
            <a:fillRect/>
          </a:stretch>
        </p:blipFill>
        <p:spPr>
          <a:xfrm>
            <a:off x="3509010" y="3188970"/>
            <a:ext cx="251460" cy="251460"/>
          </a:xfrm>
          <a:prstGeom prst="rect">
            <a:avLst/>
          </a:prstGeom>
        </p:spPr>
      </p:pic>
      <p:sp>
        <p:nvSpPr>
          <p:cNvPr id="31" name="Text 23"/>
          <p:cNvSpPr txBox="1"/>
          <p:nvPr/>
        </p:nvSpPr>
        <p:spPr>
          <a:xfrm>
            <a:off x="3383280" y="3657600"/>
            <a:ext cx="2377440" cy="274320"/>
          </a:xfrm>
          <a:prstGeom prst="rect">
            <a:avLst/>
          </a:prstGeom>
          <a:noFill/>
          <a:ln/>
        </p:spPr>
        <p:txBody>
          <a:bodyPr wrap="square" lIns="0" tIns="0" rIns="0" bIns="0" rtlCol="0" anchor="t"/>
          <a:lstStyle/>
          <a:p>
            <a:pPr indent="0" marL="0">
              <a:buNone/>
            </a:pPr>
            <a:r>
              <a:rPr lang="en-US" sz="1400" b="1" dirty="0">
                <a:solidFill>
                  <a:schemeClr val="tx2"/>
                </a:solidFill>
              </a:rPr>
              <a:t>Profile and Dark Mode</a:t>
            </a:r>
            <a:endParaRPr lang="en-US" sz="1400" dirty="0"/>
          </a:p>
        </p:txBody>
      </p:sp>
      <p:sp>
        <p:nvSpPr>
          <p:cNvPr id="32" name="Text 24"/>
          <p:cNvSpPr txBox="1"/>
          <p:nvPr/>
        </p:nvSpPr>
        <p:spPr>
          <a:xfrm>
            <a:off x="3383280" y="3931920"/>
            <a:ext cx="2377440" cy="457200"/>
          </a:xfrm>
          <a:prstGeom prst="rect">
            <a:avLst/>
          </a:prstGeom>
          <a:noFill/>
          <a:ln/>
        </p:spPr>
        <p:txBody>
          <a:bodyPr wrap="square" lIns="0" tIns="0" rIns="0" bIns="0" rtlCol="0" anchor="t"/>
          <a:lstStyle/>
          <a:p>
            <a:pPr indent="0" marL="0">
              <a:buNone/>
            </a:pPr>
            <a:r>
              <a:rPr lang="en-US" sz="1300" dirty="0">
                <a:solidFill>
                  <a:schemeClr val="tx1"/>
                </a:solidFill>
              </a:rPr>
              <a:t>Manage details, avatar and theme</a:t>
            </a:r>
            <a:endParaRPr lang="en-US" sz="1300" dirty="0"/>
          </a:p>
        </p:txBody>
      </p:sp>
      <p:sp>
        <p:nvSpPr>
          <p:cNvPr id="33" name="Journal and Calm Space card"/>
          <p:cNvSpPr/>
          <p:nvPr/>
        </p:nvSpPr>
        <p:spPr>
          <a:xfrm>
            <a:off x="6035040" y="2926080"/>
            <a:ext cx="2651760" cy="1508760"/>
          </a:xfrm>
          <a:prstGeom prst="roundRect">
            <a:avLst>
              <a:gd name="adj" fmla="val 7273"/>
            </a:avLst>
          </a:prstGeom>
          <a:solidFill>
            <a:schemeClr val="bg2"/>
          </a:solidFill>
          <a:ln/>
        </p:spPr>
      </p:sp>
      <p:sp>
        <p:nvSpPr>
          <p:cNvPr id="34" name="Journal and Calm Space circle"/>
          <p:cNvSpPr/>
          <p:nvPr/>
        </p:nvSpPr>
        <p:spPr>
          <a:xfrm>
            <a:off x="6172200" y="3063240"/>
            <a:ext cx="502920" cy="502920"/>
          </a:xfrm>
          <a:prstGeom prst="ellipse">
            <a:avLst/>
          </a:prstGeom>
          <a:solidFill>
            <a:schemeClr val="accent1"/>
          </a:solidFill>
          <a:ln/>
        </p:spPr>
      </p:sp>
      <p:pic>
        <p:nvPicPr>
          <p:cNvPr id="35" name="Image 6" descr="Journal and Calm Space">    </p:cNvPr>
          <p:cNvPicPr>
            <a:picLocks noChangeAspect="1"/>
          </p:cNvPicPr>
          <p:nvPr/>
        </p:nvPicPr>
        <p:blipFill>
          <a:blip r:embed="rId7"/>
          <a:stretch>
            <a:fillRect/>
          </a:stretch>
        </p:blipFill>
        <p:spPr>
          <a:xfrm>
            <a:off x="6297930" y="3188970"/>
            <a:ext cx="251460" cy="251460"/>
          </a:xfrm>
          <a:prstGeom prst="rect">
            <a:avLst/>
          </a:prstGeom>
        </p:spPr>
      </p:pic>
      <p:sp>
        <p:nvSpPr>
          <p:cNvPr id="36" name="Text 27"/>
          <p:cNvSpPr txBox="1"/>
          <p:nvPr/>
        </p:nvSpPr>
        <p:spPr>
          <a:xfrm>
            <a:off x="6172200" y="3657600"/>
            <a:ext cx="2377440" cy="274320"/>
          </a:xfrm>
          <a:prstGeom prst="rect">
            <a:avLst/>
          </a:prstGeom>
          <a:noFill/>
          <a:ln/>
        </p:spPr>
        <p:txBody>
          <a:bodyPr wrap="square" lIns="0" tIns="0" rIns="0" bIns="0" rtlCol="0" anchor="t"/>
          <a:lstStyle/>
          <a:p>
            <a:pPr indent="0" marL="0">
              <a:buNone/>
            </a:pPr>
            <a:r>
              <a:rPr lang="en-US" sz="1400" b="1" dirty="0">
                <a:solidFill>
                  <a:schemeClr val="tx2"/>
                </a:solidFill>
              </a:rPr>
              <a:t>Journal and Calm Space</a:t>
            </a:r>
            <a:endParaRPr lang="en-US" sz="1400" dirty="0"/>
          </a:p>
        </p:txBody>
      </p:sp>
      <p:sp>
        <p:nvSpPr>
          <p:cNvPr id="37" name="Text 28"/>
          <p:cNvSpPr txBox="1"/>
          <p:nvPr/>
        </p:nvSpPr>
        <p:spPr>
          <a:xfrm>
            <a:off x="6172200" y="3931920"/>
            <a:ext cx="2377440" cy="457200"/>
          </a:xfrm>
          <a:prstGeom prst="rect">
            <a:avLst/>
          </a:prstGeom>
          <a:noFill/>
          <a:ln/>
        </p:spPr>
        <p:txBody>
          <a:bodyPr wrap="square" lIns="0" tIns="0" rIns="0" bIns="0" rtlCol="0" anchor="t"/>
          <a:lstStyle/>
          <a:p>
            <a:pPr indent="0" marL="0">
              <a:buNone/>
            </a:pPr>
            <a:r>
              <a:rPr lang="en-US" sz="1300" dirty="0">
                <a:solidFill>
                  <a:schemeClr val="tx1"/>
                </a:solidFill>
              </a:rPr>
              <a:t>Journal entries; piano, rain, ocean and forest sounds</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Application Screens</a:t>
            </a:r>
            <a:endParaRPr lang="en-US" sz="3200" dirty="0"/>
          </a:p>
        </p:txBody>
      </p:sp>
      <p:sp>
        <p:nvSpPr>
          <p:cNvPr id="3" name="Login and Registration card"/>
          <p:cNvSpPr/>
          <p:nvPr/>
        </p:nvSpPr>
        <p:spPr>
          <a:xfrm>
            <a:off x="457200" y="1188720"/>
            <a:ext cx="1554480" cy="2514600"/>
          </a:xfrm>
          <a:prstGeom prst="roundRect">
            <a:avLst>
              <a:gd name="adj" fmla="val 7059"/>
            </a:avLst>
          </a:prstGeom>
          <a:solidFill>
            <a:schemeClr val="bg2"/>
          </a:solidFill>
          <a:ln/>
        </p:spPr>
      </p:sp>
      <p:sp>
        <p:nvSpPr>
          <p:cNvPr id="4" name="Login and Registration circle"/>
          <p:cNvSpPr/>
          <p:nvPr/>
        </p:nvSpPr>
        <p:spPr>
          <a:xfrm>
            <a:off x="594360" y="1325880"/>
            <a:ext cx="640080" cy="640080"/>
          </a:xfrm>
          <a:prstGeom prst="ellipse">
            <a:avLst/>
          </a:prstGeom>
          <a:solidFill>
            <a:schemeClr val="accent1"/>
          </a:solidFill>
          <a:ln/>
        </p:spPr>
      </p:sp>
      <p:pic>
        <p:nvPicPr>
          <p:cNvPr id="5" name="Image 0" descr="Login and Registration">    </p:cNvPr>
          <p:cNvPicPr>
            <a:picLocks noChangeAspect="1"/>
          </p:cNvPicPr>
          <p:nvPr/>
        </p:nvPicPr>
        <p:blipFill>
          <a:blip r:embed="rId1"/>
          <a:stretch>
            <a:fillRect/>
          </a:stretch>
        </p:blipFill>
        <p:spPr>
          <a:xfrm>
            <a:off x="754380" y="1485900"/>
            <a:ext cx="320040" cy="320040"/>
          </a:xfrm>
          <a:prstGeom prst="rect">
            <a:avLst/>
          </a:prstGeom>
        </p:spPr>
      </p:pic>
      <p:sp>
        <p:nvSpPr>
          <p:cNvPr id="6" name="Text 3"/>
          <p:cNvSpPr txBox="1"/>
          <p:nvPr/>
        </p:nvSpPr>
        <p:spPr>
          <a:xfrm>
            <a:off x="1463040" y="1371600"/>
            <a:ext cx="411480" cy="274320"/>
          </a:xfrm>
          <a:prstGeom prst="rect">
            <a:avLst/>
          </a:prstGeom>
          <a:noFill/>
          <a:ln/>
        </p:spPr>
        <p:txBody>
          <a:bodyPr wrap="square" lIns="0" tIns="0" rIns="0" bIns="0" rtlCol="0" anchor="t"/>
          <a:lstStyle/>
          <a:p>
            <a:pPr algn="r" indent="0" marL="0">
              <a:buNone/>
            </a:pPr>
            <a:r>
              <a:rPr lang="en-US" sz="1400" b="1" dirty="0">
                <a:solidFill>
                  <a:schemeClr val="accent6"/>
                </a:solidFill>
              </a:rPr>
              <a:t>1</a:t>
            </a:r>
            <a:endParaRPr lang="en-US" sz="1400" dirty="0"/>
          </a:p>
        </p:txBody>
      </p:sp>
      <p:sp>
        <p:nvSpPr>
          <p:cNvPr id="7" name="Text 4"/>
          <p:cNvSpPr txBox="1"/>
          <p:nvPr/>
        </p:nvSpPr>
        <p:spPr>
          <a:xfrm>
            <a:off x="594360" y="2103120"/>
            <a:ext cx="1325880" cy="640080"/>
          </a:xfrm>
          <a:prstGeom prst="rect">
            <a:avLst/>
          </a:prstGeom>
          <a:noFill/>
          <a:ln/>
        </p:spPr>
        <p:txBody>
          <a:bodyPr wrap="square" lIns="0" tIns="0" rIns="0" bIns="0" rtlCol="0" anchor="t"/>
          <a:lstStyle/>
          <a:p>
            <a:pPr indent="0" marL="0">
              <a:buNone/>
            </a:pPr>
            <a:r>
              <a:rPr lang="en-US" sz="1500" b="1" dirty="0">
                <a:solidFill>
                  <a:schemeClr val="tx2"/>
                </a:solidFill>
              </a:rPr>
              <a:t>Login and Registration</a:t>
            </a:r>
            <a:endParaRPr lang="en-US" sz="1500" dirty="0"/>
          </a:p>
        </p:txBody>
      </p:sp>
      <p:sp>
        <p:nvSpPr>
          <p:cNvPr id="8" name="Text 5"/>
          <p:cNvSpPr txBox="1"/>
          <p:nvPr/>
        </p:nvSpPr>
        <p:spPr>
          <a:xfrm>
            <a:off x="594360" y="2743200"/>
            <a:ext cx="1325880" cy="914400"/>
          </a:xfrm>
          <a:prstGeom prst="rect">
            <a:avLst/>
          </a:prstGeom>
          <a:noFill/>
          <a:ln/>
        </p:spPr>
        <p:txBody>
          <a:bodyPr wrap="square" lIns="0" tIns="0" rIns="0" bIns="0" rtlCol="0" anchor="t"/>
          <a:lstStyle/>
          <a:p>
            <a:pPr indent="0" marL="0">
              <a:buNone/>
            </a:pPr>
            <a:r>
              <a:rPr lang="en-US" sz="1300" dirty="0">
                <a:solidFill>
                  <a:schemeClr val="tx1"/>
                </a:solidFill>
              </a:rPr>
              <a:t>Secure sign-in and account creation</a:t>
            </a:r>
            <a:endParaRPr lang="en-US" sz="1300" dirty="0"/>
          </a:p>
        </p:txBody>
      </p:sp>
      <p:sp>
        <p:nvSpPr>
          <p:cNvPr id="9" name="Chatbot Interface card"/>
          <p:cNvSpPr/>
          <p:nvPr/>
        </p:nvSpPr>
        <p:spPr>
          <a:xfrm>
            <a:off x="2125980" y="1188720"/>
            <a:ext cx="1554480" cy="2514600"/>
          </a:xfrm>
          <a:prstGeom prst="roundRect">
            <a:avLst>
              <a:gd name="adj" fmla="val 7059"/>
            </a:avLst>
          </a:prstGeom>
          <a:solidFill>
            <a:schemeClr val="bg2"/>
          </a:solidFill>
          <a:ln/>
        </p:spPr>
      </p:sp>
      <p:sp>
        <p:nvSpPr>
          <p:cNvPr id="10" name="Chatbot Interface circle"/>
          <p:cNvSpPr/>
          <p:nvPr/>
        </p:nvSpPr>
        <p:spPr>
          <a:xfrm>
            <a:off x="2263140" y="1325880"/>
            <a:ext cx="640080" cy="640080"/>
          </a:xfrm>
          <a:prstGeom prst="ellipse">
            <a:avLst/>
          </a:prstGeom>
          <a:solidFill>
            <a:schemeClr val="accent2"/>
          </a:solidFill>
          <a:ln/>
        </p:spPr>
      </p:sp>
      <p:pic>
        <p:nvPicPr>
          <p:cNvPr id="11" name="Image 1" descr="Chatbot Interface">    </p:cNvPr>
          <p:cNvPicPr>
            <a:picLocks noChangeAspect="1"/>
          </p:cNvPicPr>
          <p:nvPr/>
        </p:nvPicPr>
        <p:blipFill>
          <a:blip r:embed="rId2"/>
          <a:stretch>
            <a:fillRect/>
          </a:stretch>
        </p:blipFill>
        <p:spPr>
          <a:xfrm>
            <a:off x="2423160" y="1485900"/>
            <a:ext cx="320040" cy="320040"/>
          </a:xfrm>
          <a:prstGeom prst="rect">
            <a:avLst/>
          </a:prstGeom>
        </p:spPr>
      </p:pic>
      <p:sp>
        <p:nvSpPr>
          <p:cNvPr id="12" name="Text 8"/>
          <p:cNvSpPr txBox="1"/>
          <p:nvPr/>
        </p:nvSpPr>
        <p:spPr>
          <a:xfrm>
            <a:off x="3131820" y="1371600"/>
            <a:ext cx="411480" cy="274320"/>
          </a:xfrm>
          <a:prstGeom prst="rect">
            <a:avLst/>
          </a:prstGeom>
          <a:noFill/>
          <a:ln/>
        </p:spPr>
        <p:txBody>
          <a:bodyPr wrap="square" lIns="0" tIns="0" rIns="0" bIns="0" rtlCol="0" anchor="t"/>
          <a:lstStyle/>
          <a:p>
            <a:pPr algn="r" indent="0" marL="0">
              <a:buNone/>
            </a:pPr>
            <a:r>
              <a:rPr lang="en-US" sz="1400" b="1" dirty="0">
                <a:solidFill>
                  <a:schemeClr val="accent6"/>
                </a:solidFill>
              </a:rPr>
              <a:t>2</a:t>
            </a:r>
            <a:endParaRPr lang="en-US" sz="1400" dirty="0"/>
          </a:p>
        </p:txBody>
      </p:sp>
      <p:sp>
        <p:nvSpPr>
          <p:cNvPr id="13" name="Text 9"/>
          <p:cNvSpPr txBox="1"/>
          <p:nvPr/>
        </p:nvSpPr>
        <p:spPr>
          <a:xfrm>
            <a:off x="2263140" y="2103120"/>
            <a:ext cx="1325880" cy="640080"/>
          </a:xfrm>
          <a:prstGeom prst="rect">
            <a:avLst/>
          </a:prstGeom>
          <a:noFill/>
          <a:ln/>
        </p:spPr>
        <p:txBody>
          <a:bodyPr wrap="square" lIns="0" tIns="0" rIns="0" bIns="0" rtlCol="0" anchor="t"/>
          <a:lstStyle/>
          <a:p>
            <a:pPr indent="0" marL="0">
              <a:buNone/>
            </a:pPr>
            <a:r>
              <a:rPr lang="en-US" sz="1500" b="1" dirty="0">
                <a:solidFill>
                  <a:schemeClr val="tx2"/>
                </a:solidFill>
              </a:rPr>
              <a:t>Chatbot Interface</a:t>
            </a:r>
            <a:endParaRPr lang="en-US" sz="1500" dirty="0"/>
          </a:p>
        </p:txBody>
      </p:sp>
      <p:sp>
        <p:nvSpPr>
          <p:cNvPr id="14" name="Text 10"/>
          <p:cNvSpPr txBox="1"/>
          <p:nvPr/>
        </p:nvSpPr>
        <p:spPr>
          <a:xfrm>
            <a:off x="2263140" y="2743200"/>
            <a:ext cx="1325880" cy="914400"/>
          </a:xfrm>
          <a:prstGeom prst="rect">
            <a:avLst/>
          </a:prstGeom>
          <a:noFill/>
          <a:ln/>
        </p:spPr>
        <p:txBody>
          <a:bodyPr wrap="square" lIns="0" tIns="0" rIns="0" bIns="0" rtlCol="0" anchor="t"/>
          <a:lstStyle/>
          <a:p>
            <a:pPr indent="0" marL="0">
              <a:buNone/>
            </a:pPr>
            <a:r>
              <a:rPr lang="en-US" sz="1300" dirty="0">
                <a:solidFill>
                  <a:schemeClr val="tx1"/>
                </a:solidFill>
              </a:rPr>
              <a:t>Conversational support with chat history</a:t>
            </a:r>
            <a:endParaRPr lang="en-US" sz="1300" dirty="0"/>
          </a:p>
        </p:txBody>
      </p:sp>
      <p:sp>
        <p:nvSpPr>
          <p:cNvPr id="15" name="Dashboard and Mood Tracker card"/>
          <p:cNvSpPr/>
          <p:nvPr/>
        </p:nvSpPr>
        <p:spPr>
          <a:xfrm>
            <a:off x="3794760" y="1188720"/>
            <a:ext cx="1554480" cy="2514600"/>
          </a:xfrm>
          <a:prstGeom prst="roundRect">
            <a:avLst>
              <a:gd name="adj" fmla="val 7059"/>
            </a:avLst>
          </a:prstGeom>
          <a:solidFill>
            <a:schemeClr val="bg2"/>
          </a:solidFill>
          <a:ln/>
        </p:spPr>
      </p:sp>
      <p:sp>
        <p:nvSpPr>
          <p:cNvPr id="16" name="Dashboard and Mood Tracker circle"/>
          <p:cNvSpPr/>
          <p:nvPr/>
        </p:nvSpPr>
        <p:spPr>
          <a:xfrm>
            <a:off x="3931920" y="1325880"/>
            <a:ext cx="640080" cy="640080"/>
          </a:xfrm>
          <a:prstGeom prst="ellipse">
            <a:avLst/>
          </a:prstGeom>
          <a:solidFill>
            <a:schemeClr val="accent1"/>
          </a:solidFill>
          <a:ln/>
        </p:spPr>
      </p:sp>
      <p:pic>
        <p:nvPicPr>
          <p:cNvPr id="17" name="Image 2" descr="Dashboard and Mood Tracker">    </p:cNvPr>
          <p:cNvPicPr>
            <a:picLocks noChangeAspect="1"/>
          </p:cNvPicPr>
          <p:nvPr/>
        </p:nvPicPr>
        <p:blipFill>
          <a:blip r:embed="rId3"/>
          <a:stretch>
            <a:fillRect/>
          </a:stretch>
        </p:blipFill>
        <p:spPr>
          <a:xfrm>
            <a:off x="4091940" y="1485900"/>
            <a:ext cx="320040" cy="320040"/>
          </a:xfrm>
          <a:prstGeom prst="rect">
            <a:avLst/>
          </a:prstGeom>
        </p:spPr>
      </p:pic>
      <p:sp>
        <p:nvSpPr>
          <p:cNvPr id="18" name="Text 13"/>
          <p:cNvSpPr txBox="1"/>
          <p:nvPr/>
        </p:nvSpPr>
        <p:spPr>
          <a:xfrm>
            <a:off x="4800600" y="1371600"/>
            <a:ext cx="411480" cy="274320"/>
          </a:xfrm>
          <a:prstGeom prst="rect">
            <a:avLst/>
          </a:prstGeom>
          <a:noFill/>
          <a:ln/>
        </p:spPr>
        <p:txBody>
          <a:bodyPr wrap="square" lIns="0" tIns="0" rIns="0" bIns="0" rtlCol="0" anchor="t"/>
          <a:lstStyle/>
          <a:p>
            <a:pPr algn="r" indent="0" marL="0">
              <a:buNone/>
            </a:pPr>
            <a:r>
              <a:rPr lang="en-US" sz="1400" b="1" dirty="0">
                <a:solidFill>
                  <a:schemeClr val="accent6"/>
                </a:solidFill>
              </a:rPr>
              <a:t>3</a:t>
            </a:r>
            <a:endParaRPr lang="en-US" sz="1400" dirty="0"/>
          </a:p>
        </p:txBody>
      </p:sp>
      <p:sp>
        <p:nvSpPr>
          <p:cNvPr id="19" name="Text 14"/>
          <p:cNvSpPr txBox="1"/>
          <p:nvPr/>
        </p:nvSpPr>
        <p:spPr>
          <a:xfrm>
            <a:off x="3931920" y="2103120"/>
            <a:ext cx="1325880" cy="640080"/>
          </a:xfrm>
          <a:prstGeom prst="rect">
            <a:avLst/>
          </a:prstGeom>
          <a:noFill/>
          <a:ln/>
        </p:spPr>
        <p:txBody>
          <a:bodyPr wrap="square" lIns="0" tIns="0" rIns="0" bIns="0" rtlCol="0" anchor="t"/>
          <a:lstStyle/>
          <a:p>
            <a:pPr indent="0" marL="0">
              <a:buNone/>
            </a:pPr>
            <a:r>
              <a:rPr lang="en-US" sz="1500" b="1" dirty="0">
                <a:solidFill>
                  <a:schemeClr val="tx2"/>
                </a:solidFill>
              </a:rPr>
              <a:t>Dashboard and Mood Tracker</a:t>
            </a:r>
            <a:endParaRPr lang="en-US" sz="1500" dirty="0"/>
          </a:p>
        </p:txBody>
      </p:sp>
      <p:sp>
        <p:nvSpPr>
          <p:cNvPr id="20" name="Text 15"/>
          <p:cNvSpPr txBox="1"/>
          <p:nvPr/>
        </p:nvSpPr>
        <p:spPr>
          <a:xfrm>
            <a:off x="3931920" y="2743200"/>
            <a:ext cx="1325880" cy="914400"/>
          </a:xfrm>
          <a:prstGeom prst="rect">
            <a:avLst/>
          </a:prstGeom>
          <a:noFill/>
          <a:ln/>
        </p:spPr>
        <p:txBody>
          <a:bodyPr wrap="square" lIns="0" tIns="0" rIns="0" bIns="0" rtlCol="0" anchor="t"/>
          <a:lstStyle/>
          <a:p>
            <a:pPr indent="0" marL="0">
              <a:buNone/>
            </a:pPr>
            <a:r>
              <a:rPr lang="en-US" sz="1300" dirty="0">
                <a:solidFill>
                  <a:schemeClr val="tx1"/>
                </a:solidFill>
              </a:rPr>
              <a:t>Insights and mood trends in one place</a:t>
            </a:r>
            <a:endParaRPr lang="en-US" sz="1300" dirty="0"/>
          </a:p>
        </p:txBody>
      </p:sp>
      <p:sp>
        <p:nvSpPr>
          <p:cNvPr id="21" name="Profile and Settings card"/>
          <p:cNvSpPr/>
          <p:nvPr/>
        </p:nvSpPr>
        <p:spPr>
          <a:xfrm>
            <a:off x="5463540" y="1188720"/>
            <a:ext cx="1554480" cy="2514600"/>
          </a:xfrm>
          <a:prstGeom prst="roundRect">
            <a:avLst>
              <a:gd name="adj" fmla="val 7059"/>
            </a:avLst>
          </a:prstGeom>
          <a:solidFill>
            <a:schemeClr val="bg2"/>
          </a:solidFill>
          <a:ln/>
        </p:spPr>
      </p:sp>
      <p:sp>
        <p:nvSpPr>
          <p:cNvPr id="22" name="Profile and Settings circle"/>
          <p:cNvSpPr/>
          <p:nvPr/>
        </p:nvSpPr>
        <p:spPr>
          <a:xfrm>
            <a:off x="5600700" y="1325880"/>
            <a:ext cx="640080" cy="640080"/>
          </a:xfrm>
          <a:prstGeom prst="ellipse">
            <a:avLst/>
          </a:prstGeom>
          <a:solidFill>
            <a:schemeClr val="accent2"/>
          </a:solidFill>
          <a:ln/>
        </p:spPr>
      </p:sp>
      <p:pic>
        <p:nvPicPr>
          <p:cNvPr id="23" name="Image 3" descr="Profile and Settings">    </p:cNvPr>
          <p:cNvPicPr>
            <a:picLocks noChangeAspect="1"/>
          </p:cNvPicPr>
          <p:nvPr/>
        </p:nvPicPr>
        <p:blipFill>
          <a:blip r:embed="rId4"/>
          <a:stretch>
            <a:fillRect/>
          </a:stretch>
        </p:blipFill>
        <p:spPr>
          <a:xfrm>
            <a:off x="5760720" y="1485900"/>
            <a:ext cx="320040" cy="320040"/>
          </a:xfrm>
          <a:prstGeom prst="rect">
            <a:avLst/>
          </a:prstGeom>
        </p:spPr>
      </p:pic>
      <p:sp>
        <p:nvSpPr>
          <p:cNvPr id="24" name="Text 18"/>
          <p:cNvSpPr txBox="1"/>
          <p:nvPr/>
        </p:nvSpPr>
        <p:spPr>
          <a:xfrm>
            <a:off x="6469380" y="1371600"/>
            <a:ext cx="411480" cy="274320"/>
          </a:xfrm>
          <a:prstGeom prst="rect">
            <a:avLst/>
          </a:prstGeom>
          <a:noFill/>
          <a:ln/>
        </p:spPr>
        <p:txBody>
          <a:bodyPr wrap="square" lIns="0" tIns="0" rIns="0" bIns="0" rtlCol="0" anchor="t"/>
          <a:lstStyle/>
          <a:p>
            <a:pPr algn="r" indent="0" marL="0">
              <a:buNone/>
            </a:pPr>
            <a:r>
              <a:rPr lang="en-US" sz="1400" b="1" dirty="0">
                <a:solidFill>
                  <a:schemeClr val="accent6"/>
                </a:solidFill>
              </a:rPr>
              <a:t>4</a:t>
            </a:r>
            <a:endParaRPr lang="en-US" sz="1400" dirty="0"/>
          </a:p>
        </p:txBody>
      </p:sp>
      <p:sp>
        <p:nvSpPr>
          <p:cNvPr id="25" name="Text 19"/>
          <p:cNvSpPr txBox="1"/>
          <p:nvPr/>
        </p:nvSpPr>
        <p:spPr>
          <a:xfrm>
            <a:off x="5600700" y="2103120"/>
            <a:ext cx="1325880" cy="640080"/>
          </a:xfrm>
          <a:prstGeom prst="rect">
            <a:avLst/>
          </a:prstGeom>
          <a:noFill/>
          <a:ln/>
        </p:spPr>
        <p:txBody>
          <a:bodyPr wrap="square" lIns="0" tIns="0" rIns="0" bIns="0" rtlCol="0" anchor="t"/>
          <a:lstStyle/>
          <a:p>
            <a:pPr indent="0" marL="0">
              <a:buNone/>
            </a:pPr>
            <a:r>
              <a:rPr lang="en-US" sz="1500" b="1" dirty="0">
                <a:solidFill>
                  <a:schemeClr val="tx2"/>
                </a:solidFill>
              </a:rPr>
              <a:t>Profile and Settings</a:t>
            </a:r>
            <a:endParaRPr lang="en-US" sz="1500" dirty="0"/>
          </a:p>
        </p:txBody>
      </p:sp>
      <p:sp>
        <p:nvSpPr>
          <p:cNvPr id="26" name="Text 20"/>
          <p:cNvSpPr txBox="1"/>
          <p:nvPr/>
        </p:nvSpPr>
        <p:spPr>
          <a:xfrm>
            <a:off x="5600700" y="2743200"/>
            <a:ext cx="1325880" cy="914400"/>
          </a:xfrm>
          <a:prstGeom prst="rect">
            <a:avLst/>
          </a:prstGeom>
          <a:noFill/>
          <a:ln/>
        </p:spPr>
        <p:txBody>
          <a:bodyPr wrap="square" lIns="0" tIns="0" rIns="0" bIns="0" rtlCol="0" anchor="t"/>
          <a:lstStyle/>
          <a:p>
            <a:pPr indent="0" marL="0">
              <a:buNone/>
            </a:pPr>
            <a:r>
              <a:rPr lang="en-US" sz="1300" dirty="0">
                <a:solidFill>
                  <a:schemeClr val="tx1"/>
                </a:solidFill>
              </a:rPr>
              <a:t>Personal details, avatar and dark mode</a:t>
            </a:r>
            <a:endParaRPr lang="en-US" sz="1300" dirty="0"/>
          </a:p>
        </p:txBody>
      </p:sp>
      <p:sp>
        <p:nvSpPr>
          <p:cNvPr id="27" name="Journal and Calm Space card"/>
          <p:cNvSpPr/>
          <p:nvPr/>
        </p:nvSpPr>
        <p:spPr>
          <a:xfrm>
            <a:off x="7132320" y="1188720"/>
            <a:ext cx="1554480" cy="2514600"/>
          </a:xfrm>
          <a:prstGeom prst="roundRect">
            <a:avLst>
              <a:gd name="adj" fmla="val 7059"/>
            </a:avLst>
          </a:prstGeom>
          <a:solidFill>
            <a:schemeClr val="bg2"/>
          </a:solidFill>
          <a:ln/>
        </p:spPr>
      </p:sp>
      <p:sp>
        <p:nvSpPr>
          <p:cNvPr id="28" name="Journal and Calm Space circle"/>
          <p:cNvSpPr/>
          <p:nvPr/>
        </p:nvSpPr>
        <p:spPr>
          <a:xfrm>
            <a:off x="7269480" y="1325880"/>
            <a:ext cx="640080" cy="640080"/>
          </a:xfrm>
          <a:prstGeom prst="ellipse">
            <a:avLst/>
          </a:prstGeom>
          <a:solidFill>
            <a:schemeClr val="accent1"/>
          </a:solidFill>
          <a:ln/>
        </p:spPr>
      </p:sp>
      <p:pic>
        <p:nvPicPr>
          <p:cNvPr id="29" name="Image 4" descr="Journal and Calm Space">    </p:cNvPr>
          <p:cNvPicPr>
            <a:picLocks noChangeAspect="1"/>
          </p:cNvPicPr>
          <p:nvPr/>
        </p:nvPicPr>
        <p:blipFill>
          <a:blip r:embed="rId5"/>
          <a:stretch>
            <a:fillRect/>
          </a:stretch>
        </p:blipFill>
        <p:spPr>
          <a:xfrm>
            <a:off x="7429500" y="1485900"/>
            <a:ext cx="320040" cy="320040"/>
          </a:xfrm>
          <a:prstGeom prst="rect">
            <a:avLst/>
          </a:prstGeom>
        </p:spPr>
      </p:pic>
      <p:sp>
        <p:nvSpPr>
          <p:cNvPr id="30" name="Text 23"/>
          <p:cNvSpPr txBox="1"/>
          <p:nvPr/>
        </p:nvSpPr>
        <p:spPr>
          <a:xfrm>
            <a:off x="8138160" y="1371600"/>
            <a:ext cx="411480" cy="274320"/>
          </a:xfrm>
          <a:prstGeom prst="rect">
            <a:avLst/>
          </a:prstGeom>
          <a:noFill/>
          <a:ln/>
        </p:spPr>
        <p:txBody>
          <a:bodyPr wrap="square" lIns="0" tIns="0" rIns="0" bIns="0" rtlCol="0" anchor="t"/>
          <a:lstStyle/>
          <a:p>
            <a:pPr algn="r" indent="0" marL="0">
              <a:buNone/>
            </a:pPr>
            <a:r>
              <a:rPr lang="en-US" sz="1400" b="1" dirty="0">
                <a:solidFill>
                  <a:schemeClr val="accent6"/>
                </a:solidFill>
              </a:rPr>
              <a:t>5</a:t>
            </a:r>
            <a:endParaRPr lang="en-US" sz="1400" dirty="0"/>
          </a:p>
        </p:txBody>
      </p:sp>
      <p:sp>
        <p:nvSpPr>
          <p:cNvPr id="31" name="Text 24"/>
          <p:cNvSpPr txBox="1"/>
          <p:nvPr/>
        </p:nvSpPr>
        <p:spPr>
          <a:xfrm>
            <a:off x="7269480" y="2103120"/>
            <a:ext cx="1325880" cy="640080"/>
          </a:xfrm>
          <a:prstGeom prst="rect">
            <a:avLst/>
          </a:prstGeom>
          <a:noFill/>
          <a:ln/>
        </p:spPr>
        <p:txBody>
          <a:bodyPr wrap="square" lIns="0" tIns="0" rIns="0" bIns="0" rtlCol="0" anchor="t"/>
          <a:lstStyle/>
          <a:p>
            <a:pPr indent="0" marL="0">
              <a:buNone/>
            </a:pPr>
            <a:r>
              <a:rPr lang="en-US" sz="1500" b="1" dirty="0">
                <a:solidFill>
                  <a:schemeClr val="tx2"/>
                </a:solidFill>
              </a:rPr>
              <a:t>Journal and Calm Space</a:t>
            </a:r>
            <a:endParaRPr lang="en-US" sz="1500" dirty="0"/>
          </a:p>
        </p:txBody>
      </p:sp>
      <p:sp>
        <p:nvSpPr>
          <p:cNvPr id="32" name="Text 25"/>
          <p:cNvSpPr txBox="1"/>
          <p:nvPr/>
        </p:nvSpPr>
        <p:spPr>
          <a:xfrm>
            <a:off x="7269480" y="2743200"/>
            <a:ext cx="1325880" cy="914400"/>
          </a:xfrm>
          <a:prstGeom prst="rect">
            <a:avLst/>
          </a:prstGeom>
          <a:noFill/>
          <a:ln/>
        </p:spPr>
        <p:txBody>
          <a:bodyPr wrap="square" lIns="0" tIns="0" rIns="0" bIns="0" rtlCol="0" anchor="t"/>
          <a:lstStyle/>
          <a:p>
            <a:pPr indent="0" marL="0">
              <a:buNone/>
            </a:pPr>
            <a:r>
              <a:rPr lang="en-US" sz="1300" dirty="0">
                <a:solidFill>
                  <a:schemeClr val="tx1"/>
                </a:solidFill>
              </a:rPr>
              <a:t>Write entries; relax with sound tracks</a:t>
            </a:r>
            <a:endParaRPr lang="en-US" sz="1300" dirty="0"/>
          </a:p>
        </p:txBody>
      </p:sp>
      <p:sp>
        <p:nvSpPr>
          <p:cNvPr id="33" name="ui note"/>
          <p:cNvSpPr/>
          <p:nvPr/>
        </p:nvSpPr>
        <p:spPr>
          <a:xfrm>
            <a:off x="457200" y="3840480"/>
            <a:ext cx="8229600" cy="640080"/>
          </a:xfrm>
          <a:prstGeom prst="roundRect">
            <a:avLst>
              <a:gd name="adj" fmla="val 17143"/>
            </a:avLst>
          </a:prstGeom>
          <a:solidFill>
            <a:schemeClr val="tx2"/>
          </a:solidFill>
          <a:ln/>
        </p:spPr>
      </p:sp>
      <p:sp>
        <p:nvSpPr>
          <p:cNvPr id="34" name="Text 27"/>
          <p:cNvSpPr txBox="1"/>
          <p:nvPr/>
        </p:nvSpPr>
        <p:spPr>
          <a:xfrm>
            <a:off x="685800" y="3840480"/>
            <a:ext cx="7772400" cy="640080"/>
          </a:xfrm>
          <a:prstGeom prst="rect">
            <a:avLst/>
          </a:prstGeom>
          <a:noFill/>
          <a:ln/>
        </p:spPr>
        <p:txBody>
          <a:bodyPr wrap="square" lIns="0" tIns="0" rIns="0" bIns="0" rtlCol="0" anchor="ctr"/>
          <a:lstStyle/>
          <a:p>
            <a:pPr indent="0" marL="0">
              <a:buNone/>
            </a:pPr>
            <a:r>
              <a:rPr lang="en-US" sz="1400" b="1" dirty="0">
                <a:solidFill>
                  <a:schemeClr val="bg1"/>
                </a:solidFill>
              </a:rPr>
              <a:t>Design: minimal layout, clear navigation, soft calming colours and a consistent look across devices.</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Testing and Redesign</a:t>
            </a:r>
            <a:endParaRPr lang="en-US" sz="3200" dirty="0"/>
          </a:p>
        </p:txBody>
      </p:sp>
      <p:sp>
        <p:nvSpPr>
          <p:cNvPr id="3" name="Text 1"/>
          <p:cNvSpPr txBox="1"/>
          <p:nvPr/>
        </p:nvSpPr>
        <p:spPr>
          <a:xfrm>
            <a:off x="457200" y="1051560"/>
            <a:ext cx="3657600" cy="228600"/>
          </a:xfrm>
          <a:prstGeom prst="rect">
            <a:avLst/>
          </a:prstGeom>
          <a:noFill/>
          <a:ln/>
        </p:spPr>
        <p:txBody>
          <a:bodyPr wrap="square" lIns="0" tIns="0" rIns="0" bIns="0" rtlCol="0" anchor="t"/>
          <a:lstStyle/>
          <a:p>
            <a:pPr indent="0" marL="0">
              <a:buNone/>
            </a:pPr>
            <a:r>
              <a:rPr lang="en-US" sz="1200" b="1" dirty="0">
                <a:solidFill>
                  <a:schemeClr val="accent1"/>
                </a:solidFill>
              </a:rPr>
              <a:t>TESTING</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206240" cy="914400"/>
        </p:xfrm>
        <a:graphic>
          <a:graphicData uri="http://schemas.openxmlformats.org/drawingml/2006/table">
            <a:tbl>
              <a:tblPr/>
              <a:tblGrid>
                <a:gridCol w="914400"/>
                <a:gridCol w="1417320"/>
                <a:gridCol w="1874520"/>
              </a:tblGrid>
              <a:tr h="384048">
                <a:tc>
                  <a:txBody>
                    <a:bodyPr/>
                    <a:lstStyle/>
                    <a:p>
                      <a:pPr indent="0" marL="0">
                        <a:buNone/>
                      </a:pPr>
                      <a:r>
                        <a:rPr lang="en-US" sz="1300" b="1" dirty="0">
                          <a:solidFill>
                            <a:srgbClr val="FFFFFF"/>
                          </a:solidFill>
                        </a:rPr>
                        <a:t>Test</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3A2D8F"/>
                    </a:solidFill>
                  </a:tcPr>
                </a:tc>
                <a:tc>
                  <a:txBody>
                    <a:bodyPr/>
                    <a:lstStyle/>
                    <a:p>
                      <a:pPr indent="0" marL="0">
                        <a:buNone/>
                      </a:pPr>
                      <a:r>
                        <a:rPr lang="en-US" sz="1300" b="1" dirty="0">
                          <a:solidFill>
                            <a:srgbClr val="FFFFFF"/>
                          </a:solidFill>
                        </a:rPr>
                        <a:t>Input</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3A2D8F"/>
                    </a:solidFill>
                  </a:tcPr>
                </a:tc>
                <a:tc>
                  <a:txBody>
                    <a:bodyPr/>
                    <a:lstStyle/>
                    <a:p>
                      <a:pPr indent="0" marL="0">
                        <a:buNone/>
                      </a:pPr>
                      <a:r>
                        <a:rPr lang="en-US" sz="1300" b="1" dirty="0">
                          <a:solidFill>
                            <a:srgbClr val="FFFFFF"/>
                          </a:solidFill>
                        </a:rPr>
                        <a:t>Expected output</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solidFill>
                      <a:srgbClr val="3A2D8F"/>
                    </a:solidFill>
                  </a:tcPr>
                </a:tc>
              </a:tr>
              <a:tr h="384048">
                <a:tc>
                  <a:txBody>
                    <a:bodyPr/>
                    <a:lstStyle/>
                    <a:p>
                      <a:pPr indent="0" marL="0">
                        <a:buNone/>
                      </a:pPr>
                      <a:r>
                        <a:rPr lang="en-US" sz="1300" b="1" dirty="0">
                          <a:solidFill>
                            <a:srgbClr val="3A2D8F"/>
                          </a:solidFill>
                        </a:rPr>
                        <a:t>Login</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300" dirty="0">
                          <a:solidFill>
                            <a:srgbClr val="1E1B3A"/>
                          </a:solidFill>
                        </a:rPr>
                        <a:t>Valid credentials</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300" dirty="0">
                          <a:solidFill>
                            <a:srgbClr val="1E1B3A"/>
                          </a:solidFill>
                        </a:rPr>
                        <a:t>Dashboard loads</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r>
              <a:tr h="384048">
                <a:tc>
                  <a:txBody>
                    <a:bodyPr/>
                    <a:lstStyle/>
                    <a:p>
                      <a:pPr indent="0" marL="0">
                        <a:buNone/>
                      </a:pPr>
                      <a:r>
                        <a:rPr lang="en-US" sz="1300" b="1" dirty="0">
                          <a:solidFill>
                            <a:srgbClr val="3A2D8F"/>
                          </a:solidFill>
                        </a:rPr>
                        <a:t>Chatbot</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300" dirty="0">
                          <a:solidFill>
                            <a:srgbClr val="1E1B3A"/>
                          </a:solidFill>
                        </a:rPr>
                        <a:t>“I feel sad”</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300" dirty="0">
                          <a:solidFill>
                            <a:srgbClr val="1E1B3A"/>
                          </a:solidFill>
                        </a:rPr>
                        <a:t>Supportive response</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r>
              <a:tr h="384048">
                <a:tc>
                  <a:txBody>
                    <a:bodyPr/>
                    <a:lstStyle/>
                    <a:p>
                      <a:pPr indent="0" marL="0">
                        <a:buNone/>
                      </a:pPr>
                      <a:r>
                        <a:rPr lang="en-US" sz="1300" b="1" dirty="0">
                          <a:solidFill>
                            <a:srgbClr val="3A2D8F"/>
                          </a:solidFill>
                        </a:rPr>
                        <a:t>Mood log</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300" dirty="0">
                          <a:solidFill>
                            <a:srgbClr val="1E1B3A"/>
                          </a:solidFill>
                        </a:rPr>
                        <a:t>Happy</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c>
                  <a:txBody>
                    <a:bodyPr/>
                    <a:lstStyle/>
                    <a:p>
                      <a:pPr indent="0" marL="0">
                        <a:buNone/>
                      </a:pPr>
                      <a:r>
                        <a:rPr lang="en-US" sz="1300" dirty="0">
                          <a:solidFill>
                            <a:srgbClr val="1E1B3A"/>
                          </a:solidFill>
                        </a:rPr>
                        <a:t>Stored successfully</a:t>
                      </a:r>
                      <a:endParaRPr lang="en-US" sz="1300" dirty="0"/>
                    </a:p>
                  </a:txBody>
                  <a:tcPr marL="73152" marR="73152" marT="0" marB="0" anchor="ctr">
                    <a:lnL w="9525" cap="flat" cmpd="sng" algn="ctr">
                      <a:solidFill>
                        <a:srgbClr val="D6D1F5"/>
                      </a:solidFill>
                      <a:prstDash val="solid"/>
                      <a:round/>
                      <a:headEnd type="none" w="med" len="med"/>
                      <a:tailEnd type="none" w="med" len="med"/>
                    </a:lnL>
                    <a:lnR w="9525" cap="flat" cmpd="sng" algn="ctr">
                      <a:solidFill>
                        <a:srgbClr val="D6D1F5"/>
                      </a:solidFill>
                      <a:prstDash val="solid"/>
                      <a:round/>
                      <a:headEnd type="none" w="med" len="med"/>
                      <a:tailEnd type="none" w="med" len="med"/>
                    </a:lnR>
                    <a:lnT w="9525" cap="flat" cmpd="sng" algn="ctr">
                      <a:solidFill>
                        <a:srgbClr val="D6D1F5"/>
                      </a:solidFill>
                      <a:prstDash val="solid"/>
                      <a:round/>
                      <a:headEnd type="none" w="med" len="med"/>
                      <a:tailEnd type="none" w="med" len="med"/>
                    </a:lnT>
                    <a:lnB w="9525" cap="flat" cmpd="sng" algn="ctr">
                      <a:solidFill>
                        <a:srgbClr val="D6D1F5"/>
                      </a:solidFill>
                      <a:prstDash val="solid"/>
                      <a:round/>
                      <a:headEnd type="none" w="med" len="med"/>
                      <a:tailEnd type="none" w="med" len="med"/>
                    </a:lnB>
                  </a:tcPr>
                </a:tc>
              </a:tr>
            </a:tbl>
          </a:graphicData>
        </a:graphic>
      </p:graphicFrame>
      <p:sp>
        <p:nvSpPr>
          <p:cNvPr id="5" name="Text 2"/>
          <p:cNvSpPr txBox="1"/>
          <p:nvPr/>
        </p:nvSpPr>
        <p:spPr>
          <a:xfrm>
            <a:off x="457200" y="3017520"/>
            <a:ext cx="4206240" cy="1463040"/>
          </a:xfrm>
          <a:prstGeom prst="rect">
            <a:avLst/>
          </a:prstGeom>
          <a:noFill/>
          <a:ln/>
        </p:spPr>
        <p:txBody>
          <a:bodyPr wrap="square" lIns="0" tIns="0" rIns="0" bIns="0" rtlCol="0" anchor="t"/>
          <a:lstStyle/>
          <a:p>
            <a:pPr indent="0" marL="0">
              <a:spcAft>
                <a:spcPts val="600"/>
              </a:spcAft>
              <a:buNone/>
            </a:pPr>
            <a:r>
              <a:rPr lang="en-US" sz="1400" b="1" dirty="0">
                <a:solidFill>
                  <a:schemeClr val="tx2"/>
                </a:solidFill>
              </a:rPr>
              <a:t>Functional: </a:t>
            </a:r>
            <a:pPr indent="0" marL="0">
              <a:spcAft>
                <a:spcPts val="600"/>
              </a:spcAft>
              <a:buNone/>
            </a:pPr>
            <a:r>
              <a:rPr lang="en-US" sz="1400" dirty="0">
                <a:solidFill>
                  <a:schemeClr val="tx1"/>
                </a:solidFill>
              </a:rPr>
              <a:t>login, chatbot, mood tracking, dashboard, chats</a:t>
            </a:r>
            <a:endParaRPr lang="en-US" sz="1400" dirty="0"/>
          </a:p>
          <a:p>
            <a:pPr indent="0" marL="0">
              <a:spcAft>
                <a:spcPts val="600"/>
              </a:spcAft>
              <a:buNone/>
            </a:pPr>
            <a:r>
              <a:rPr lang="en-US" sz="1400" b="1" dirty="0">
                <a:solidFill>
                  <a:schemeClr val="tx2"/>
                </a:solidFill>
              </a:rPr>
              <a:t>Usability: </a:t>
            </a:r>
            <a:pPr indent="0" marL="0">
              <a:spcAft>
                <a:spcPts val="600"/>
              </a:spcAft>
              <a:buNone/>
            </a:pPr>
            <a:r>
              <a:rPr lang="en-US" sz="1400" dirty="0">
                <a:solidFill>
                  <a:schemeClr val="tx1"/>
                </a:solidFill>
              </a:rPr>
              <a:t>ease of use with student users</a:t>
            </a:r>
            <a:endParaRPr lang="en-US" sz="1400" dirty="0"/>
          </a:p>
          <a:p>
            <a:pPr indent="0" marL="0">
              <a:spcAft>
                <a:spcPts val="600"/>
              </a:spcAft>
              <a:buNone/>
            </a:pPr>
            <a:r>
              <a:rPr lang="en-US" sz="1400" b="1" dirty="0">
                <a:solidFill>
                  <a:schemeClr val="tx2"/>
                </a:solidFill>
              </a:rPr>
              <a:t>Performance: </a:t>
            </a:r>
            <a:pPr indent="0" marL="0">
              <a:spcAft>
                <a:spcPts val="600"/>
              </a:spcAft>
              <a:buNone/>
            </a:pPr>
            <a:r>
              <a:rPr lang="en-US" sz="1400" dirty="0">
                <a:solidFill>
                  <a:schemeClr val="tx1"/>
                </a:solidFill>
              </a:rPr>
              <a:t>response and data retrieval</a:t>
            </a:r>
            <a:endParaRPr lang="en-US" sz="1400" dirty="0"/>
          </a:p>
        </p:txBody>
      </p:sp>
      <p:sp>
        <p:nvSpPr>
          <p:cNvPr id="6" name="redesign card"/>
          <p:cNvSpPr/>
          <p:nvPr/>
        </p:nvSpPr>
        <p:spPr>
          <a:xfrm>
            <a:off x="4937760" y="1051560"/>
            <a:ext cx="3749040" cy="3429000"/>
          </a:xfrm>
          <a:prstGeom prst="roundRect">
            <a:avLst>
              <a:gd name="adj" fmla="val 3200"/>
            </a:avLst>
          </a:prstGeom>
          <a:solidFill>
            <a:schemeClr val="tx2"/>
          </a:solidFill>
          <a:ln/>
        </p:spPr>
      </p:sp>
      <p:sp>
        <p:nvSpPr>
          <p:cNvPr id="7" name="Redesign circle"/>
          <p:cNvSpPr/>
          <p:nvPr/>
        </p:nvSpPr>
        <p:spPr>
          <a:xfrm>
            <a:off x="5166360" y="1234440"/>
            <a:ext cx="457200" cy="457200"/>
          </a:xfrm>
          <a:prstGeom prst="ellipse">
            <a:avLst/>
          </a:prstGeom>
          <a:solidFill>
            <a:schemeClr val="accent1"/>
          </a:solidFill>
          <a:ln/>
        </p:spPr>
      </p:sp>
      <p:pic>
        <p:nvPicPr>
          <p:cNvPr id="8" name="Image 0" descr="Redesign">    </p:cNvPr>
          <p:cNvPicPr>
            <a:picLocks noChangeAspect="1"/>
          </p:cNvPicPr>
          <p:nvPr/>
        </p:nvPicPr>
        <p:blipFill>
          <a:blip r:embed="rId1"/>
          <a:stretch>
            <a:fillRect/>
          </a:stretch>
        </p:blipFill>
        <p:spPr>
          <a:xfrm>
            <a:off x="5280660" y="1348740"/>
            <a:ext cx="228600" cy="228600"/>
          </a:xfrm>
          <a:prstGeom prst="rect">
            <a:avLst/>
          </a:prstGeom>
        </p:spPr>
      </p:pic>
      <p:sp>
        <p:nvSpPr>
          <p:cNvPr id="9" name="Text 5"/>
          <p:cNvSpPr txBox="1"/>
          <p:nvPr/>
        </p:nvSpPr>
        <p:spPr>
          <a:xfrm>
            <a:off x="5760720" y="1234440"/>
            <a:ext cx="2743200" cy="457200"/>
          </a:xfrm>
          <a:prstGeom prst="rect">
            <a:avLst/>
          </a:prstGeom>
          <a:noFill/>
          <a:ln/>
        </p:spPr>
        <p:txBody>
          <a:bodyPr wrap="square" lIns="0" tIns="0" rIns="0" bIns="0" rtlCol="0" anchor="ctr"/>
          <a:lstStyle/>
          <a:p>
            <a:pPr indent="0" marL="0">
              <a:buNone/>
            </a:pPr>
            <a:r>
              <a:rPr lang="en-US" sz="1800" b="1" dirty="0">
                <a:solidFill>
                  <a:schemeClr val="bg1"/>
                </a:solidFill>
              </a:rPr>
              <a:t>Redesign</a:t>
            </a:r>
            <a:endParaRPr lang="en-US" sz="1800" dirty="0"/>
          </a:p>
        </p:txBody>
      </p:sp>
      <p:sp>
        <p:nvSpPr>
          <p:cNvPr id="10" name="Text 6"/>
          <p:cNvSpPr txBox="1"/>
          <p:nvPr/>
        </p:nvSpPr>
        <p:spPr>
          <a:xfrm>
            <a:off x="5166360" y="1920240"/>
            <a:ext cx="3291840" cy="2468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Improved interface and navigation</a:t>
            </a:r>
            <a:endParaRPr lang="en-US" sz="1400" dirty="0"/>
          </a:p>
          <a:p>
            <a:pPr marL="342900" indent="-342900">
              <a:spcAft>
                <a:spcPts val="500"/>
              </a:spcAft>
              <a:buSzPct val="100000"/>
              <a:buChar char="•"/>
            </a:pPr>
            <a:r>
              <a:rPr lang="en-US" sz="1400" dirty="0">
                <a:solidFill>
                  <a:schemeClr val="bg1"/>
                </a:solidFill>
              </a:rPr>
              <a:t>Enhanced chatbot interaction</a:t>
            </a:r>
            <a:endParaRPr lang="en-US" sz="1400" dirty="0"/>
          </a:p>
          <a:p>
            <a:pPr marL="342900" indent="-342900">
              <a:spcAft>
                <a:spcPts val="500"/>
              </a:spcAft>
              <a:buSzPct val="100000"/>
              <a:buChar char="•"/>
            </a:pPr>
            <a:r>
              <a:rPr lang="en-US" sz="1400" dirty="0">
                <a:solidFill>
                  <a:schemeClr val="bg1"/>
                </a:solidFill>
              </a:rPr>
              <a:t>Better mood visualisation</a:t>
            </a:r>
            <a:endParaRPr lang="en-US" sz="1400" dirty="0"/>
          </a:p>
          <a:p>
            <a:pPr marL="342900" indent="-342900">
              <a:spcAft>
                <a:spcPts val="500"/>
              </a:spcAft>
              <a:buSzPct val="100000"/>
              <a:buChar char="•"/>
            </a:pPr>
            <a:r>
              <a:rPr lang="en-US" sz="1400" dirty="0">
                <a:solidFill>
                  <a:schemeClr val="bg1"/>
                </a:solidFill>
              </a:rPr>
              <a:t>Added chat management and dark mode</a:t>
            </a:r>
            <a:endParaRPr lang="en-US" sz="1400" dirty="0"/>
          </a:p>
          <a:p>
            <a:pPr marL="342900" indent="-342900">
              <a:spcAft>
                <a:spcPts val="500"/>
              </a:spcAft>
              <a:buSzPct val="100000"/>
              <a:buChar char="•"/>
            </a:pPr>
            <a:r>
              <a:rPr lang="en-US" sz="1400" dirty="0">
                <a:solidFill>
                  <a:schemeClr val="bg1"/>
                </a:solidFill>
              </a:rPr>
              <a:t>Improved dashboard and usability</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Results, Limitations and Future Enhancements</a:t>
            </a:r>
            <a:endParaRPr lang="en-US" sz="3200" dirty="0"/>
          </a:p>
        </p:txBody>
      </p:sp>
      <p:sp>
        <p:nvSpPr>
          <p:cNvPr id="3" name="Results card"/>
          <p:cNvSpPr/>
          <p:nvPr/>
        </p:nvSpPr>
        <p:spPr>
          <a:xfrm>
            <a:off x="457200" y="1143000"/>
            <a:ext cx="2651760" cy="3337560"/>
          </a:xfrm>
          <a:prstGeom prst="roundRect">
            <a:avLst>
              <a:gd name="adj" fmla="val 4138"/>
            </a:avLst>
          </a:prstGeom>
          <a:solidFill>
            <a:schemeClr val="bg2"/>
          </a:solidFill>
          <a:ln/>
        </p:spPr>
      </p:sp>
      <p:sp>
        <p:nvSpPr>
          <p:cNvPr id="4" name="Results circle"/>
          <p:cNvSpPr/>
          <p:nvPr/>
        </p:nvSpPr>
        <p:spPr>
          <a:xfrm>
            <a:off x="640080" y="1280160"/>
            <a:ext cx="502920" cy="502920"/>
          </a:xfrm>
          <a:prstGeom prst="ellipse">
            <a:avLst/>
          </a:prstGeom>
          <a:solidFill>
            <a:schemeClr val="accent1"/>
          </a:solidFill>
          <a:ln/>
        </p:spPr>
      </p:sp>
      <p:pic>
        <p:nvPicPr>
          <p:cNvPr id="5" name="Image 0" descr="Results">    </p:cNvPr>
          <p:cNvPicPr>
            <a:picLocks noChangeAspect="1"/>
          </p:cNvPicPr>
          <p:nvPr/>
        </p:nvPicPr>
        <p:blipFill>
          <a:blip r:embed="rId1"/>
          <a:stretch>
            <a:fillRect/>
          </a:stretch>
        </p:blipFill>
        <p:spPr>
          <a:xfrm>
            <a:off x="765810" y="1405890"/>
            <a:ext cx="251460" cy="251460"/>
          </a:xfrm>
          <a:prstGeom prst="rect">
            <a:avLst/>
          </a:prstGeom>
        </p:spPr>
      </p:pic>
      <p:sp>
        <p:nvSpPr>
          <p:cNvPr id="6" name="Text 3"/>
          <p:cNvSpPr txBox="1"/>
          <p:nvPr/>
        </p:nvSpPr>
        <p:spPr>
          <a:xfrm>
            <a:off x="1280160" y="1280160"/>
            <a:ext cx="1737360" cy="502920"/>
          </a:xfrm>
          <a:prstGeom prst="rect">
            <a:avLst/>
          </a:prstGeom>
          <a:noFill/>
          <a:ln/>
        </p:spPr>
        <p:txBody>
          <a:bodyPr wrap="square" lIns="0" tIns="0" rIns="0" bIns="0" rtlCol="0" anchor="ctr"/>
          <a:lstStyle/>
          <a:p>
            <a:pPr indent="0" marL="0">
              <a:buNone/>
            </a:pPr>
            <a:r>
              <a:rPr lang="en-US" sz="1600" b="1" dirty="0">
                <a:solidFill>
                  <a:schemeClr val="tx2"/>
                </a:solidFill>
              </a:rPr>
              <a:t>Results</a:t>
            </a:r>
            <a:endParaRPr lang="en-US" sz="1600" dirty="0"/>
          </a:p>
        </p:txBody>
      </p:sp>
      <p:sp>
        <p:nvSpPr>
          <p:cNvPr id="7" name="Text 4"/>
          <p:cNvSpPr txBox="1"/>
          <p:nvPr/>
        </p:nvSpPr>
        <p:spPr>
          <a:xfrm>
            <a:off x="640080" y="1965960"/>
            <a:ext cx="2331720" cy="2423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Chatbot interaction and mood tracking</a:t>
            </a:r>
            <a:endParaRPr lang="en-US" sz="1400" dirty="0"/>
          </a:p>
          <a:p>
            <a:pPr marL="342900" indent="-342900">
              <a:spcAft>
                <a:spcPts val="500"/>
              </a:spcAft>
              <a:buSzPct val="100000"/>
              <a:buChar char="•"/>
            </a:pPr>
            <a:r>
              <a:rPr lang="en-US" sz="1400" dirty="0">
                <a:solidFill>
                  <a:schemeClr val="tx1"/>
                </a:solidFill>
              </a:rPr>
              <a:t>Authentication and profile management</a:t>
            </a:r>
            <a:endParaRPr lang="en-US" sz="1400" dirty="0"/>
          </a:p>
          <a:p>
            <a:pPr marL="342900" indent="-342900">
              <a:spcAft>
                <a:spcPts val="500"/>
              </a:spcAft>
              <a:buSzPct val="100000"/>
              <a:buChar char="•"/>
            </a:pPr>
            <a:r>
              <a:rPr lang="en-US" sz="1400" dirty="0">
                <a:solidFill>
                  <a:schemeClr val="tx1"/>
                </a:solidFill>
              </a:rPr>
              <a:t>Accessible, responsive web interface</a:t>
            </a:r>
            <a:endParaRPr lang="en-US" sz="1400" dirty="0"/>
          </a:p>
          <a:p>
            <a:pPr marL="342900" indent="-342900">
              <a:spcAft>
                <a:spcPts val="500"/>
              </a:spcAft>
              <a:buSzPct val="100000"/>
              <a:buChar char="•"/>
            </a:pPr>
            <a:r>
              <a:rPr lang="en-US" sz="1400" dirty="0">
                <a:solidFill>
                  <a:schemeClr val="tx1"/>
                </a:solidFill>
              </a:rPr>
              <a:t>Encourages emotional expression and self-awareness</a:t>
            </a:r>
            <a:endParaRPr lang="en-US" sz="1400" dirty="0"/>
          </a:p>
        </p:txBody>
      </p:sp>
      <p:sp>
        <p:nvSpPr>
          <p:cNvPr id="8" name="Limitations card"/>
          <p:cNvSpPr/>
          <p:nvPr/>
        </p:nvSpPr>
        <p:spPr>
          <a:xfrm>
            <a:off x="3246120" y="1143000"/>
            <a:ext cx="2651760" cy="3337560"/>
          </a:xfrm>
          <a:prstGeom prst="roundRect">
            <a:avLst>
              <a:gd name="adj" fmla="val 4138"/>
            </a:avLst>
          </a:prstGeom>
          <a:solidFill>
            <a:schemeClr val="bg2"/>
          </a:solidFill>
          <a:ln/>
        </p:spPr>
      </p:sp>
      <p:sp>
        <p:nvSpPr>
          <p:cNvPr id="9" name="Limitations circle"/>
          <p:cNvSpPr/>
          <p:nvPr/>
        </p:nvSpPr>
        <p:spPr>
          <a:xfrm>
            <a:off x="3429000" y="1280160"/>
            <a:ext cx="502920" cy="502920"/>
          </a:xfrm>
          <a:prstGeom prst="ellipse">
            <a:avLst/>
          </a:prstGeom>
          <a:solidFill>
            <a:schemeClr val="accent2"/>
          </a:solidFill>
          <a:ln/>
        </p:spPr>
      </p:sp>
      <p:pic>
        <p:nvPicPr>
          <p:cNvPr id="10" name="Image 1" descr="Limitations">    </p:cNvPr>
          <p:cNvPicPr>
            <a:picLocks noChangeAspect="1"/>
          </p:cNvPicPr>
          <p:nvPr/>
        </p:nvPicPr>
        <p:blipFill>
          <a:blip r:embed="rId2"/>
          <a:stretch>
            <a:fillRect/>
          </a:stretch>
        </p:blipFill>
        <p:spPr>
          <a:xfrm>
            <a:off x="3554730" y="1405890"/>
            <a:ext cx="251460" cy="251460"/>
          </a:xfrm>
          <a:prstGeom prst="rect">
            <a:avLst/>
          </a:prstGeom>
        </p:spPr>
      </p:pic>
      <p:sp>
        <p:nvSpPr>
          <p:cNvPr id="11" name="Text 7"/>
          <p:cNvSpPr txBox="1"/>
          <p:nvPr/>
        </p:nvSpPr>
        <p:spPr>
          <a:xfrm>
            <a:off x="4069080" y="1280160"/>
            <a:ext cx="1737360" cy="502920"/>
          </a:xfrm>
          <a:prstGeom prst="rect">
            <a:avLst/>
          </a:prstGeom>
          <a:noFill/>
          <a:ln/>
        </p:spPr>
        <p:txBody>
          <a:bodyPr wrap="square" lIns="0" tIns="0" rIns="0" bIns="0" rtlCol="0" anchor="ctr"/>
          <a:lstStyle/>
          <a:p>
            <a:pPr indent="0" marL="0">
              <a:buNone/>
            </a:pPr>
            <a:r>
              <a:rPr lang="en-US" sz="1600" b="1" dirty="0">
                <a:solidFill>
                  <a:schemeClr val="tx2"/>
                </a:solidFill>
              </a:rPr>
              <a:t>Limitations</a:t>
            </a:r>
            <a:endParaRPr lang="en-US" sz="1600" dirty="0"/>
          </a:p>
        </p:txBody>
      </p:sp>
      <p:sp>
        <p:nvSpPr>
          <p:cNvPr id="12" name="Text 8"/>
          <p:cNvSpPr txBox="1"/>
          <p:nvPr/>
        </p:nvSpPr>
        <p:spPr>
          <a:xfrm>
            <a:off x="3429000" y="1965960"/>
            <a:ext cx="2331720" cy="2423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May not understand complex emotions</a:t>
            </a:r>
            <a:endParaRPr lang="en-US" sz="1400" dirty="0"/>
          </a:p>
          <a:p>
            <a:pPr marL="342900" indent="-342900">
              <a:spcAft>
                <a:spcPts val="500"/>
              </a:spcAft>
              <a:buSzPct val="100000"/>
              <a:buChar char="•"/>
            </a:pPr>
            <a:r>
              <a:rPr lang="en-US" sz="1400" dirty="0">
                <a:solidFill>
                  <a:schemeClr val="tx1"/>
                </a:solidFill>
              </a:rPr>
              <a:t>AI chatbot needs internet connectivity</a:t>
            </a:r>
            <a:endParaRPr lang="en-US" sz="1400" dirty="0"/>
          </a:p>
          <a:p>
            <a:pPr marL="342900" indent="-342900">
              <a:spcAft>
                <a:spcPts val="500"/>
              </a:spcAft>
              <a:buSzPct val="100000"/>
              <a:buChar char="•"/>
            </a:pPr>
            <a:r>
              <a:rPr lang="en-US" sz="1400" dirty="0">
                <a:solidFill>
                  <a:schemeClr val="tx1"/>
                </a:solidFill>
              </a:rPr>
              <a:t>LocalStorage data lost if browser data is cleared</a:t>
            </a:r>
            <a:endParaRPr lang="en-US" sz="1400" dirty="0"/>
          </a:p>
          <a:p>
            <a:pPr marL="342900" indent="-342900">
              <a:spcAft>
                <a:spcPts val="500"/>
              </a:spcAft>
              <a:buSzPct val="100000"/>
              <a:buChar char="•"/>
            </a:pPr>
            <a:r>
              <a:rPr lang="en-US" sz="1400" dirty="0">
                <a:solidFill>
                  <a:schemeClr val="tx1"/>
                </a:solidFill>
              </a:rPr>
              <a:t>Limited multi-device synchronisation</a:t>
            </a:r>
            <a:endParaRPr lang="en-US" sz="1400" dirty="0"/>
          </a:p>
        </p:txBody>
      </p:sp>
      <p:sp>
        <p:nvSpPr>
          <p:cNvPr id="13" name="Future Enhancements card"/>
          <p:cNvSpPr/>
          <p:nvPr/>
        </p:nvSpPr>
        <p:spPr>
          <a:xfrm>
            <a:off x="6035040" y="1143000"/>
            <a:ext cx="2651760" cy="3337560"/>
          </a:xfrm>
          <a:prstGeom prst="roundRect">
            <a:avLst>
              <a:gd name="adj" fmla="val 4138"/>
            </a:avLst>
          </a:prstGeom>
          <a:solidFill>
            <a:schemeClr val="bg2"/>
          </a:solidFill>
          <a:ln/>
        </p:spPr>
      </p:sp>
      <p:sp>
        <p:nvSpPr>
          <p:cNvPr id="14" name="Future Enhancements circle"/>
          <p:cNvSpPr/>
          <p:nvPr/>
        </p:nvSpPr>
        <p:spPr>
          <a:xfrm>
            <a:off x="6217920" y="1280160"/>
            <a:ext cx="502920" cy="502920"/>
          </a:xfrm>
          <a:prstGeom prst="ellipse">
            <a:avLst/>
          </a:prstGeom>
          <a:solidFill>
            <a:schemeClr val="accent5"/>
          </a:solidFill>
          <a:ln/>
        </p:spPr>
      </p:sp>
      <p:pic>
        <p:nvPicPr>
          <p:cNvPr id="15" name="Image 2" descr="Future Enhancements">    </p:cNvPr>
          <p:cNvPicPr>
            <a:picLocks noChangeAspect="1"/>
          </p:cNvPicPr>
          <p:nvPr/>
        </p:nvPicPr>
        <p:blipFill>
          <a:blip r:embed="rId3"/>
          <a:stretch>
            <a:fillRect/>
          </a:stretch>
        </p:blipFill>
        <p:spPr>
          <a:xfrm>
            <a:off x="6343650" y="1405890"/>
            <a:ext cx="251460" cy="251460"/>
          </a:xfrm>
          <a:prstGeom prst="rect">
            <a:avLst/>
          </a:prstGeom>
        </p:spPr>
      </p:pic>
      <p:sp>
        <p:nvSpPr>
          <p:cNvPr id="16" name="Text 11"/>
          <p:cNvSpPr txBox="1"/>
          <p:nvPr/>
        </p:nvSpPr>
        <p:spPr>
          <a:xfrm>
            <a:off x="6858000" y="1280160"/>
            <a:ext cx="1737360" cy="502920"/>
          </a:xfrm>
          <a:prstGeom prst="rect">
            <a:avLst/>
          </a:prstGeom>
          <a:noFill/>
          <a:ln/>
        </p:spPr>
        <p:txBody>
          <a:bodyPr wrap="square" lIns="0" tIns="0" rIns="0" bIns="0" rtlCol="0" anchor="ctr"/>
          <a:lstStyle/>
          <a:p>
            <a:pPr indent="0" marL="0">
              <a:buNone/>
            </a:pPr>
            <a:r>
              <a:rPr lang="en-US" sz="1600" b="1" dirty="0">
                <a:solidFill>
                  <a:schemeClr val="tx2"/>
                </a:solidFill>
              </a:rPr>
              <a:t>Future Enhancements</a:t>
            </a:r>
            <a:endParaRPr lang="en-US" sz="1600" dirty="0"/>
          </a:p>
        </p:txBody>
      </p:sp>
      <p:sp>
        <p:nvSpPr>
          <p:cNvPr id="17" name="Text 12"/>
          <p:cNvSpPr txBox="1"/>
          <p:nvPr/>
        </p:nvSpPr>
        <p:spPr>
          <a:xfrm>
            <a:off x="6217920" y="1965960"/>
            <a:ext cx="2331720" cy="2423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Advanced natural language processing</a:t>
            </a:r>
            <a:endParaRPr lang="en-US" sz="1400" dirty="0"/>
          </a:p>
          <a:p>
            <a:pPr marL="342900" indent="-342900">
              <a:spcAft>
                <a:spcPts val="500"/>
              </a:spcAft>
              <a:buSzPct val="100000"/>
              <a:buChar char="•"/>
            </a:pPr>
            <a:r>
              <a:rPr lang="en-US" sz="1400" dirty="0">
                <a:solidFill>
                  <a:schemeClr val="tx1"/>
                </a:solidFill>
              </a:rPr>
              <a:t>Better personalisation and analytics</a:t>
            </a:r>
            <a:endParaRPr lang="en-US" sz="1400" dirty="0"/>
          </a:p>
          <a:p>
            <a:pPr marL="342900" indent="-342900">
              <a:spcAft>
                <a:spcPts val="500"/>
              </a:spcAft>
              <a:buSzPct val="100000"/>
              <a:buChar char="•"/>
            </a:pPr>
            <a:r>
              <a:rPr lang="en-US" sz="1400" dirty="0">
                <a:solidFill>
                  <a:schemeClr val="tx1"/>
                </a:solidFill>
              </a:rPr>
              <a:t>Reminders and notifications</a:t>
            </a:r>
            <a:endParaRPr lang="en-US" sz="1400" dirty="0"/>
          </a:p>
          <a:p>
            <a:pPr marL="342900" indent="-342900">
              <a:spcAft>
                <a:spcPts val="500"/>
              </a:spcAft>
              <a:buSzPct val="100000"/>
              <a:buChar char="•"/>
            </a:pPr>
            <a:r>
              <a:rPr lang="en-US" sz="1400" dirty="0">
                <a:solidFill>
                  <a:schemeClr val="tx1"/>
                </a:solidFill>
              </a:rPr>
              <a:t>Improved cloud sync and professional support integration</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457200"/>
            <a:ext cx="5486400" cy="640080"/>
          </a:xfrm>
          <a:prstGeom prst="rect">
            <a:avLst/>
          </a:prstGeom>
          <a:noFill/>
          <a:ln/>
        </p:spPr>
        <p:txBody>
          <a:bodyPr wrap="square" lIns="0" tIns="0" rIns="0" bIns="0" rtlCol="0" anchor="t"/>
          <a:lstStyle/>
          <a:p>
            <a:pPr indent="0" marL="0">
              <a:buNone/>
            </a:pPr>
            <a:r>
              <a:rPr lang="en-US" sz="3600" b="1" dirty="0">
                <a:solidFill>
                  <a:schemeClr val="bg1"/>
                </a:solidFill>
              </a:rPr>
              <a:t>Conclusion</a:t>
            </a:r>
            <a:endParaRPr lang="en-US" sz="3600" dirty="0"/>
          </a:p>
        </p:txBody>
      </p:sp>
      <p:sp>
        <p:nvSpPr>
          <p:cNvPr id="3" name="Text 1"/>
          <p:cNvSpPr txBox="1"/>
          <p:nvPr/>
        </p:nvSpPr>
        <p:spPr>
          <a:xfrm>
            <a:off x="457200" y="1325880"/>
            <a:ext cx="5303520" cy="2651760"/>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chemeClr val="bg1"/>
                </a:solidFill>
              </a:rPr>
              <a:t>Shows how web technologies can support student wellbeing</a:t>
            </a:r>
            <a:endParaRPr lang="en-US" sz="1700" dirty="0"/>
          </a:p>
          <a:p>
            <a:pPr marL="342900" indent="-342900">
              <a:spcAft>
                <a:spcPts val="500"/>
              </a:spcAft>
              <a:buSzPct val="100000"/>
              <a:buChar char="•"/>
            </a:pPr>
            <a:r>
              <a:rPr lang="en-US" sz="1700" dirty="0">
                <a:solidFill>
                  <a:schemeClr val="bg1"/>
                </a:solidFill>
              </a:rPr>
              <a:t>Combines chatbot interaction, mood tracking and wellness activities</a:t>
            </a:r>
            <a:endParaRPr lang="en-US" sz="1700" dirty="0"/>
          </a:p>
          <a:p>
            <a:pPr marL="342900" indent="-342900">
              <a:spcAft>
                <a:spcPts val="500"/>
              </a:spcAft>
              <a:buSzPct val="100000"/>
              <a:buChar char="•"/>
            </a:pPr>
            <a:r>
              <a:rPr lang="en-US" sz="1700" dirty="0">
                <a:solidFill>
                  <a:schemeClr val="bg1"/>
                </a:solidFill>
              </a:rPr>
              <a:t>Applies a user-centred Design Thinking approach</a:t>
            </a:r>
            <a:endParaRPr lang="en-US" sz="1700" dirty="0"/>
          </a:p>
          <a:p>
            <a:pPr marL="342900" indent="-342900">
              <a:spcAft>
                <a:spcPts val="500"/>
              </a:spcAft>
              <a:buSzPct val="100000"/>
              <a:buChar char="•"/>
            </a:pPr>
            <a:r>
              <a:rPr lang="en-US" sz="1700" dirty="0">
                <a:solidFill>
                  <a:schemeClr val="bg1"/>
                </a:solidFill>
              </a:rPr>
              <a:t>A basic support tool, not a replacement for professional mental health care</a:t>
            </a:r>
            <a:endParaRPr lang="en-US" sz="1700" dirty="0"/>
          </a:p>
        </p:txBody>
      </p:sp>
      <p:sp>
        <p:nvSpPr>
          <p:cNvPr id="4" name="ring"/>
          <p:cNvSpPr/>
          <p:nvPr/>
        </p:nvSpPr>
        <p:spPr>
          <a:xfrm>
            <a:off x="6126480" y="822960"/>
            <a:ext cx="2743200" cy="2743200"/>
          </a:xfrm>
          <a:prstGeom prst="ellipse">
            <a:avLst/>
          </a:prstGeom>
          <a:solidFill>
            <a:schemeClr val="tx2"/>
          </a:solidFill>
          <a:ln w="19050">
            <a:solidFill>
              <a:schemeClr val="accent3"/>
            </a:solidFill>
            <a:prstDash val="solid"/>
          </a:ln>
        </p:spPr>
      </p:sp>
      <p:sp>
        <p:nvSpPr>
          <p:cNvPr id="5" name="disc"/>
          <p:cNvSpPr/>
          <p:nvPr/>
        </p:nvSpPr>
        <p:spPr>
          <a:xfrm>
            <a:off x="6400800" y="1097280"/>
            <a:ext cx="2194560" cy="2194560"/>
          </a:xfrm>
          <a:prstGeom prst="ellipse">
            <a:avLst/>
          </a:prstGeom>
          <a:solidFill>
            <a:schemeClr val="accent1"/>
          </a:solidFill>
          <a:ln/>
        </p:spPr>
      </p:sp>
      <p:sp>
        <p:nvSpPr>
          <p:cNvPr id="6" name="Text 4"/>
          <p:cNvSpPr txBox="1"/>
          <p:nvPr/>
        </p:nvSpPr>
        <p:spPr>
          <a:xfrm>
            <a:off x="6126480" y="1737360"/>
            <a:ext cx="2743200" cy="548640"/>
          </a:xfrm>
          <a:prstGeom prst="rect">
            <a:avLst/>
          </a:prstGeom>
          <a:noFill/>
          <a:ln/>
        </p:spPr>
        <p:txBody>
          <a:bodyPr wrap="square" lIns="0" tIns="0" rIns="0" bIns="0" rtlCol="0" anchor="ctr"/>
          <a:lstStyle/>
          <a:p>
            <a:pPr algn="ctr" indent="0" marL="0">
              <a:buNone/>
            </a:pPr>
            <a:r>
              <a:rPr lang="en-US" sz="2800" b="1" dirty="0">
                <a:solidFill>
                  <a:schemeClr val="bg1"/>
                </a:solidFill>
              </a:rPr>
              <a:t>Thank You</a:t>
            </a:r>
            <a:endParaRPr lang="en-US" sz="2800" dirty="0"/>
          </a:p>
        </p:txBody>
      </p:sp>
      <p:sp>
        <p:nvSpPr>
          <p:cNvPr id="7" name="Text 5"/>
          <p:cNvSpPr txBox="1"/>
          <p:nvPr/>
        </p:nvSpPr>
        <p:spPr>
          <a:xfrm>
            <a:off x="6126480" y="2286000"/>
            <a:ext cx="2743200" cy="457200"/>
          </a:xfrm>
          <a:prstGeom prst="rect">
            <a:avLst/>
          </a:prstGeom>
          <a:noFill/>
          <a:ln/>
        </p:spPr>
        <p:txBody>
          <a:bodyPr wrap="square" lIns="0" tIns="0" rIns="0" bIns="0" rtlCol="0" anchor="ctr"/>
          <a:lstStyle/>
          <a:p>
            <a:pPr algn="ctr" indent="0" marL="0">
              <a:buNone/>
            </a:pPr>
            <a:r>
              <a:rPr lang="en-US" sz="2200" dirty="0">
                <a:solidFill>
                  <a:schemeClr val="accent4"/>
                </a:solidFill>
              </a:rPr>
              <a:t>Questions?</a:t>
            </a:r>
            <a:endParaRPr lang="en-US" sz="2200" dirty="0"/>
          </a:p>
        </p:txBody>
      </p:sp>
      <p:sp>
        <p:nvSpPr>
          <p:cNvPr id="8" name="Text 6"/>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500" b="1" dirty="0">
                <a:solidFill>
                  <a:schemeClr val="bg1"/>
                </a:solidFill>
              </a:rPr>
              <a:t>Kamalesh V  |  240701224  |  Guided by Dr. Punitha</a:t>
            </a:r>
            <a:endParaRPr lang="en-US" sz="1500" dirty="0"/>
          </a:p>
        </p:txBody>
      </p:sp>
      <p:sp>
        <p:nvSpPr>
          <p:cNvPr id="9" name="Text 7"/>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300" b="1" dirty="0">
                <a:solidFill>
                  <a:schemeClr val="accent3"/>
                </a:solidFill>
              </a:rPr>
              <a:t>DEPARTMENT OF COMPUTER SCIENCE AND ENGINEERING</a:t>
            </a:r>
            <a:endParaRPr lang="en-US" sz="1300" dirty="0"/>
          </a:p>
        </p:txBody>
      </p:sp>
    </p:spTree>
  </p:cSld>
  <p:clrMapOvr>
    <a:masterClrMapping/>
  </p:clrMapOvr>
</p:sld>
</file>

<file path=ppt/theme/theme1.xml><?xml version="1.0" encoding="utf-8"?>
<a:theme xmlns:a="http://schemas.openxmlformats.org/drawingml/2006/main" name="MindMate Lavender">
  <a:themeElements>
    <a:clrScheme name="MindMate Lavender">
      <a:dk1>
        <a:srgbClr val="1E1B3A"/>
      </a:dk1>
      <a:lt1>
        <a:srgbClr val="FFFFFF"/>
      </a:lt1>
      <a:dk2>
        <a:srgbClr val="3A2D8F"/>
      </a:dk2>
      <a:lt2>
        <a:srgbClr val="F1EEFF"/>
      </a:lt2>
      <a:accent1>
        <a:srgbClr val="6C5CE7"/>
      </a:accent1>
      <a:accent2>
        <a:srgbClr val="4D7CFE"/>
      </a:accent2>
      <a:accent3>
        <a:srgbClr val="A29BFE"/>
      </a:accent3>
      <a:accent4>
        <a:srgbClr val="9CC0FF"/>
      </a:accent4>
      <a:accent5>
        <a:srgbClr val="7C83FD"/>
      </a:accent5>
      <a:accent6>
        <a:srgbClr val="6A62A6"/>
      </a:accent6>
      <a:hlink>
        <a:srgbClr val="6C5CE7"/>
      </a:hlink>
      <a:folHlink>
        <a:srgbClr val="6A62A6"/>
      </a:folHlink>
    </a:clrScheme>
    <a:fontScheme name="MindMate Lave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MindMate AI – An Intelligent Student Counselling Assistant</dc:title>
  <dc:subject>PptxGenJS Presentation</dc:subject>
  <dc:creator>Kamalesh V</dc:creator>
  <cp:lastModifiedBy>Kamalesh V</cp:lastModifiedBy>
  <cp:revision>1</cp:revision>
  <dcterms:created xsi:type="dcterms:W3CDTF">2026-10-15T07:37:30Z</dcterms:created>
  <dcterms:modified xsi:type="dcterms:W3CDTF">2026-10-15T07:37:30Z</dcterms:modified>
</cp:coreProperties>
</file>